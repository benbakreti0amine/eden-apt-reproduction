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eb45e4-67ca-9ede-0820-f9fd01140dcb}">
          <p14:sldIdLst>
            <p14:sldId id="256"/>
            <p14:sldId id="257"/>
          </p14:sldIdLst>
        </p14:section>
        <p14:section name="Article et méthode" id="{134cd6fc-9eeb-e052-914e-b73eed5386ec}">
          <p14:sldIdLst>
            <p14:sldId id="258"/>
            <p14:sldId id="259"/>
          </p14:sldIdLst>
        </p14:section>
        <p14:section name="Résultats" id="{cdbc2c6f-fb6d-d7ec-2558-2c2de8958ade}">
          <p14:sldIdLst>
            <p14:sldId id="260"/>
            <p14:sldId id="261"/>
          </p14:sldIdLst>
        </p14:section>
        <p14:section name="Discussion" id="{bd0b1031-7289-0d3f-2ba1-219d59af8c9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la reproduction de deux expériences de l'article de Cosme, Thomas et Gaucherel (Entropy, 2023), réalisée avec l'outil ecco. Le graphe à droite est l'un des deux résultats que nous avons recalculés.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modèles classiques d'écosystèmes, à base d'équations différentielles, demandent des paramètres : taux de croissance, capacité, taux de prédation. En écologie, on sait rarement les mesurer. Les modèles qualitatifs s'en passent : une espèce est seulement présente ou absente, et une règle dit ce qui peut arriver, par exemple « si A est présente, P peut disparaître ». Nous avons reproduit deux expériences d'un article de 2023 avec l'outil ecco, développé à l'IBISC.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L'article est d'abord une revue historique. Il part des réseaux de réactions de Camerano en 1880, passe par les modèles à compartiments des années 1950, la loop analysis de Levins, les modèles état-transition et le raisonnement qualitatif. Les auteurs voient chaque formalisme comme un assemblage de propriétés, jugé sur quatre objectifs : saisir la dynamique qualitative, faire peu d'hypothèses sur les paramètres, expliquer et prédire. Leur proposition, EDEN, combine quatre choix : qualitatif, événements discrets, asynchrone et possibiliste.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modèle APT tel que nous l'avons écrit pour ecco : trois espèces, l'amibe A, la paramécie P et Tetrahymena T, et quatre règles. Une règle est applicable si sa condition est vraie et si elle change l'état. En asynchrone, une seule règle s'applique à la fois, n'importe laquelle : on obtient plusieurs trajectoires. En synchrone, toutes les règles applicables s'appliquent ensemble : une seule trajectoire. ecco calcule le graphe de tous les états accessibles. Un état stable est un état d'où plus rien ne bouge.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graphe calculé par ecco dans notre notebook, redessiné avec le nom des états ; les états stables ont un contour épais. On retrouve exactement la figure 5, avec 6 états, les mêmes 6 transitions et les mêmes règles, deux fins possibles, T seul ou plus aucune espèce, et trois trajectoires. Pour finir avec T seul, il faut que A mange P, puis que A disparaisse faute de P, avant d'avoir mangé T. C'est l'affirmation de l'article : l'extinction de P est nécessaire mais pas suffisante pour aboutir à T. Depuis AP, T est déjà éteinte et seule la fin vide reste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modèle, même départ, seul l'ordre des événements change. En synchrone, R1, R2 et R3 se déclenchent ensemble depuis APT : A mange P et T au même instant, donc T ne peut jamais survivre, et la seule fin est vide. En asynchrone, si A meurt faute de P avant d'avoir mangé T, T survit : c'est l'état observé expérimentalement. ecco n'a pas de mode synchrone : nous l'avons simulé en regroupant à la main les règles tirées ensemble en deux règles, S1 et S2. Cela suffit pour la figure 7a, mais ce n'est pas un mode synchrone générique : depuis un autre état, par exemple AT, nos règles ne feraient pas ce que ferait un vrai pas synchrone.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reproduction valide le calcul : les graphes sont calculés par ecco, le calcul est déterministe, vérifiable à la main, et le graphe asynchrone coïncide arc par arc avec la figure 5. Elle ne valide pas l'écologie. Notre synchrone est codé à la main et ne vaut que depuis APT. La validation de l'article repose sur une seule étude en microcosmes, dont les chiffres ne sont pas dans l'article, et les règles ont été construites à partir de ces mêmes expériences : la validation n'est pas indépendante. L'exemple est minuscule, et le cadre possibiliste dit ce qui est possible, pas ce qui est probable.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aller plus loin : valider la démarche sur les autres combinaisons d'espèces du même pool expérimental ; attacher des probabilités au même graphe pour savoir si T est une issue rare ou fréquente ; comparer d'autres modes de mise à jour et tester la robustesse règle par règle ; et apprendre les règles à partir des données. Message à retenir : l'ordre des événements compte, mais possible ne veut pas dire probable.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7223760" cy="457200"/>
          </a:xfrm>
          <a:prstGeom prst="rect">
            <a:avLst/>
          </a:prstGeom>
          <a:noFill/>
          <a:ln/>
        </p:spPr>
        <p:txBody>
          <a:bodyPr wrap="square" rtlCol="0"/>
          <a:lstStyle>
            <a:lvl1pPr indent="0" marL="0">
              <a:buNone/>
              <a:defRPr lang="en-US" sz="1400" dirty="0">
                <a:solidFill>
                  <a:schemeClr val="accent3"/>
                </a:solidFill>
              </a:defRPr>
            </a:lvl1pPr>
          </a:lstStyle>
          <a:p>
            <a:pPr indent="0" marL="0">
              <a:buNone/>
            </a:pPr>
            <a:endParaRPr lang="en-US" sz="1400" dirty="0"/>
          </a:p>
        </p:txBody>
      </p:sp>
      <p:sp>
        <p:nvSpPr>
          <p:cNvPr id="3" name="Text 0"/>
          <p:cNvSpPr/>
          <p:nvPr>
            <p:ph idx="101" type="title" hasCustomPrompt="1"/>
          </p:nvPr>
        </p:nvSpPr>
        <p:spPr>
          <a:xfrm>
            <a:off x="640080" y="1325880"/>
            <a:ext cx="7863840" cy="2011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640080" y="3520440"/>
            <a:ext cx="7680960" cy="86868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
        <p:nvSpPr>
          <p:cNvPr id="5" name="Text 0"/>
          <p:cNvSpPr/>
          <p:nvPr>
            <p:ph idx="103" type="body" hasCustomPrompt="1"/>
          </p:nvPr>
        </p:nvSpPr>
        <p:spPr>
          <a:xfrm>
            <a:off x="640080" y="4754880"/>
            <a:ext cx="7223760" cy="777240"/>
          </a:xfrm>
          <a:prstGeom prst="rect">
            <a:avLst/>
          </a:prstGeom>
          <a:noFill/>
          <a:ln/>
        </p:spPr>
        <p:txBody>
          <a:bodyPr wrap="square" rtlCol="0"/>
          <a:lstStyle>
            <a:lvl1pPr indent="0" marL="0">
              <a:buNone/>
              <a:defRPr lang="en-US" sz="1800" b="1" dirty="0">
                <a:solidFill>
                  <a:schemeClr val="bg1"/>
                </a:solidFill>
              </a:defRPr>
            </a:lvl1pPr>
          </a:lstStyle>
          <a:p>
            <a:pPr indent="0" marL="0">
              <a:buNone/>
            </a:pPr>
            <a:endParaRPr lang="en-US" sz="1800" dirty="0"/>
          </a:p>
        </p:txBody>
      </p:sp>
      <p:sp>
        <p:nvSpPr>
          <p:cNvPr id="6" name="Text 0"/>
          <p:cNvSpPr/>
          <p:nvPr>
            <p:ph idx="104" type="body" hasCustomPrompt="1"/>
          </p:nvPr>
        </p:nvSpPr>
        <p:spPr>
          <a:xfrm>
            <a:off x="640080" y="5806440"/>
            <a:ext cx="7223760" cy="411480"/>
          </a:xfrm>
          <a:prstGeom prst="rect">
            <a:avLst/>
          </a:prstGeom>
          <a:noFill/>
          <a:ln/>
        </p:spPr>
        <p:txBody>
          <a:bodyPr wrap="square" rtlCol="0"/>
          <a:lstStyle>
            <a:lvl1pPr indent="0" marL="0">
              <a:buNone/>
              <a:defRPr lang="en-US" sz="1200" dirty="0">
                <a:solidFill>
                  <a:schemeClr val="bg2"/>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382512"/>
            <a:ext cx="9144000" cy="274320"/>
          </a:xfrm>
          <a:prstGeom prst="rect">
            <a:avLst/>
          </a:prstGeom>
          <a:noFill/>
          <a:ln/>
        </p:spPr>
        <p:txBody>
          <a:bodyPr wrap="square" lIns="0" tIns="0" rIns="0" bIns="0" rtlCol="0" anchor="ctr"/>
          <a:lstStyle/>
          <a:p>
            <a:pPr indent="0" marL="0">
              <a:buNone/>
            </a:pPr>
            <a:r>
              <a:rPr lang="fr-FR" altLang="en-US" sz="1000" dirty="0">
                <a:solidFill>
                  <a:schemeClr val="accent6"/>
                </a:solidFill>
              </a:rPr>
              <a:t>Reproduction de Cosme, Thomas et Gaucherel (2023) · M2 Informatique, Université Paris-Saclay</a:t>
            </a:r>
            <a:endParaRPr lang="fr-FR"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382512"/>
            <a:ext cx="9144000" cy="274320"/>
          </a:xfrm>
          <a:prstGeom prst="rect">
            <a:avLst/>
          </a:prstGeom>
          <a:noFill/>
          <a:ln/>
        </p:spPr>
        <p:txBody>
          <a:bodyPr wrap="square" lIns="0" tIns="0" rIns="0" bIns="0" rtlCol="0" anchor="ctr"/>
          <a:lstStyle/>
          <a:p>
            <a:pPr indent="0" marL="0">
              <a:buNone/>
            </a:pPr>
            <a:r>
              <a:rPr lang="fr-FR" altLang="en-US" sz="1000" dirty="0">
                <a:solidFill>
                  <a:schemeClr val="accent3"/>
                </a:solidFill>
              </a:rPr>
              <a:t>Reproduction de Cosme, Thomas et Gaucherel (2023) · M2 Informatique, Université Paris-Saclay</a:t>
            </a:r>
            <a:endParaRPr lang="fr-FR"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7223760" cy="457200"/>
          </a:xfrm>
          <a:prstGeom prst="rect">
            <a:avLst/>
          </a:prstGeom>
          <a:noFill/>
          <a:ln/>
        </p:spPr>
        <p:txBody>
          <a:bodyPr wrap="square" lIns="0" tIns="0" rIns="0" bIns="0" rtlCol="0" anchor="ctr"/>
          <a:lstStyle/>
          <a:p>
            <a:pPr indent="0" marL="0">
              <a:buNone/>
            </a:pPr>
            <a:r>
              <a:rPr lang="fr-FR" altLang="en-US" sz="1400" dirty="0">
                <a:solidFill>
                  <a:schemeClr val="accent3"/>
                </a:solidFill>
              </a:rPr>
              <a:t>Université Paris-Saclay · Master 2 Informatique · Projet de reproduction d'article</a:t>
            </a:r>
            <a:endParaRPr lang="fr-FR" sz="1400" dirty="0"/>
          </a:p>
        </p:txBody>
      </p:sp>
      <p:sp>
        <p:nvSpPr>
          <p:cNvPr id="3" name="Text 0"/>
          <p:cNvSpPr/>
          <p:nvPr>
            <p:ph idx="101" type="title" hasCustomPrompt="1"/>
          </p:nvPr>
        </p:nvSpPr>
        <p:spPr>
          <a:xfrm>
            <a:off x="640080" y="1325880"/>
            <a:ext cx="7863840" cy="2011680"/>
          </a:xfrm>
          <a:prstGeom prst="rect">
            <a:avLst/>
          </a:prstGeom>
          <a:noFill/>
          <a:ln/>
        </p:spPr>
        <p:txBody>
          <a:bodyPr wrap="square" lIns="0" tIns="0" rIns="0" bIns="0" rtlCol="0" anchor="b"/>
          <a:lstStyle/>
          <a:p>
            <a:pPr algn="l" indent="0" marL="0">
              <a:buNone/>
            </a:pPr>
            <a:r>
              <a:rPr lang="fr-FR" altLang="en-US" sz="3400" b="1" dirty="0">
                <a:solidFill>
                  <a:schemeClr val="bg1"/>
                </a:solidFill>
              </a:rPr>
              <a:t>Reproduire les figures 5 et 7 de</a:t>
            </a:r>
            <a:endParaRPr lang="fr-FR" sz="3400" dirty="0"/>
          </a:p>
          <a:p>
            <a:pPr algn="l" indent="0" marL="0">
              <a:buNone/>
            </a:pPr>
            <a:r>
              <a:rPr lang="fr-FR" altLang="en-US" sz="3400" b="1" dirty="0">
                <a:solidFill>
                  <a:schemeClr val="bg1"/>
                </a:solidFill>
              </a:rPr>
              <a:t>Cosme, Thomas &amp; Gaucherel (2023)</a:t>
            </a:r>
            <a:endParaRPr lang="fr-FR" sz="3400" dirty="0"/>
          </a:p>
        </p:txBody>
      </p:sp>
      <p:sp>
        <p:nvSpPr>
          <p:cNvPr id="4" name="Text 0"/>
          <p:cNvSpPr/>
          <p:nvPr>
            <p:ph idx="102" type="body" hasCustomPrompt="1"/>
          </p:nvPr>
        </p:nvSpPr>
        <p:spPr>
          <a:xfrm>
            <a:off x="640080" y="3520440"/>
            <a:ext cx="7680960" cy="868680"/>
          </a:xfrm>
          <a:prstGeom prst="rect">
            <a:avLst/>
          </a:prstGeom>
          <a:noFill/>
          <a:ln/>
        </p:spPr>
        <p:txBody>
          <a:bodyPr wrap="square" lIns="0" tIns="0" rIns="0" bIns="0" rtlCol="0" anchor="t"/>
          <a:lstStyle/>
          <a:p>
            <a:pPr indent="0" marL="0">
              <a:buNone/>
            </a:pPr>
            <a:r>
              <a:rPr lang="fr-FR" altLang="en-US" sz="2000" dirty="0">
                <a:solidFill>
                  <a:schemeClr val="accent3"/>
                </a:solidFill>
              </a:rPr>
              <a:t>Modèle qualitatif APT : exécution synchrone et asynchrone avec ecco</a:t>
            </a:r>
            <a:endParaRPr lang="fr-FR" sz="2000" dirty="0"/>
          </a:p>
        </p:txBody>
      </p:sp>
      <p:sp>
        <p:nvSpPr>
          <p:cNvPr id="5" name="Text 0"/>
          <p:cNvSpPr/>
          <p:nvPr>
            <p:ph idx="103" type="body" hasCustomPrompt="1"/>
          </p:nvPr>
        </p:nvSpPr>
        <p:spPr>
          <a:xfrm>
            <a:off x="640080" y="4754880"/>
            <a:ext cx="7223760" cy="777240"/>
          </a:xfrm>
          <a:prstGeom prst="rect">
            <a:avLst/>
          </a:prstGeom>
          <a:noFill/>
          <a:ln/>
        </p:spPr>
        <p:txBody>
          <a:bodyPr wrap="square" lIns="0" tIns="0" rIns="0" bIns="0" rtlCol="0" anchor="t"/>
          <a:lstStyle/>
          <a:p>
            <a:pPr indent="0" marL="0">
              <a:buNone/>
            </a:pPr>
            <a:r>
              <a:rPr lang="fr-FR" altLang="en-US" sz="1800" b="1" dirty="0">
                <a:solidFill>
                  <a:schemeClr val="bg1"/>
                </a:solidFill>
              </a:rPr>
              <a:t>Mohammed El Amine BENBAKRETI</a:t>
            </a:r>
            <a:endParaRPr lang="fr-FR" sz="1800" dirty="0"/>
          </a:p>
          <a:p>
            <a:pPr indent="0" marL="0">
              <a:buNone/>
            </a:pPr>
            <a:r>
              <a:rPr lang="fr-FR" altLang="en-US" sz="1800" b="1" dirty="0">
                <a:solidFill>
                  <a:schemeClr val="bg1"/>
                </a:solidFill>
              </a:rPr>
              <a:t>Mohamed Aziz BEN ROMDHANE</a:t>
            </a:r>
            <a:endParaRPr lang="fr-FR" sz="1800" dirty="0"/>
          </a:p>
        </p:txBody>
      </p:sp>
      <p:sp>
        <p:nvSpPr>
          <p:cNvPr id="6" name="Text 0"/>
          <p:cNvSpPr/>
          <p:nvPr>
            <p:ph idx="104" type="body" hasCustomPrompt="1"/>
          </p:nvPr>
        </p:nvSpPr>
        <p:spPr>
          <a:xfrm>
            <a:off x="640080" y="5806440"/>
            <a:ext cx="7223760" cy="411480"/>
          </a:xfrm>
          <a:prstGeom prst="rect">
            <a:avLst/>
          </a:prstGeom>
          <a:noFill/>
          <a:ln/>
        </p:spPr>
        <p:txBody>
          <a:bodyPr wrap="square" lIns="0" tIns="0" rIns="0" bIns="0" rtlCol="0" anchor="t"/>
          <a:lstStyle/>
          <a:p>
            <a:pPr indent="0" marL="0">
              <a:buNone/>
            </a:pPr>
            <a:r>
              <a:rPr lang="fr-FR" altLang="en-US" sz="1200" dirty="0">
                <a:solidFill>
                  <a:schemeClr val="bg2"/>
                </a:solidFill>
              </a:rPr>
              <a:t>Article : Entropy 25(11):1526, 2023 · doi:10.3390/e25111526</a:t>
            </a:r>
            <a:endParaRPr lang="fr-FR" sz="1200" dirty="0"/>
          </a:p>
        </p:txBody>
      </p:sp>
      <p:sp>
        <p:nvSpPr>
          <p:cNvPr id="7" name="Shape 5"/>
          <p:cNvSpPr/>
          <p:nvPr/>
        </p:nvSpPr>
        <p:spPr>
          <a:xfrm flipH="1">
            <a:off x="9320791" y="1656625"/>
            <a:ext cx="387828" cy="603287"/>
          </a:xfrm>
          <a:prstGeom prst="line">
            <a:avLst/>
          </a:prstGeom>
          <a:noFill/>
          <a:ln w="22225">
            <a:solidFill>
              <a:schemeClr val="bg2"/>
            </a:solidFill>
            <a:prstDash val="solid"/>
            <a:tailEnd type="triangle"/>
          </a:ln>
        </p:spPr>
      </p:sp>
      <p:sp>
        <p:nvSpPr>
          <p:cNvPr id="8" name="Shape 6"/>
          <p:cNvSpPr/>
          <p:nvPr/>
        </p:nvSpPr>
        <p:spPr>
          <a:xfrm>
            <a:off x="10133862" y="1656625"/>
            <a:ext cx="387828" cy="603287"/>
          </a:xfrm>
          <a:prstGeom prst="line">
            <a:avLst/>
          </a:prstGeom>
          <a:noFill/>
          <a:ln w="22225">
            <a:solidFill>
              <a:schemeClr val="bg2"/>
            </a:solidFill>
            <a:prstDash val="solid"/>
            <a:tailEnd type="triangle"/>
          </a:ln>
        </p:spPr>
      </p:sp>
      <p:sp>
        <p:nvSpPr>
          <p:cNvPr id="9" name="Shape 7"/>
          <p:cNvSpPr/>
          <p:nvPr/>
        </p:nvSpPr>
        <p:spPr>
          <a:xfrm>
            <a:off x="9098280" y="2999232"/>
            <a:ext cx="914" cy="475488"/>
          </a:xfrm>
          <a:prstGeom prst="line">
            <a:avLst/>
          </a:prstGeom>
          <a:noFill/>
          <a:ln w="22225">
            <a:solidFill>
              <a:schemeClr val="bg2"/>
            </a:solidFill>
            <a:prstDash val="solid"/>
            <a:tailEnd type="triangle"/>
          </a:ln>
        </p:spPr>
      </p:sp>
      <p:sp>
        <p:nvSpPr>
          <p:cNvPr id="10" name="Shape 8"/>
          <p:cNvSpPr/>
          <p:nvPr/>
        </p:nvSpPr>
        <p:spPr>
          <a:xfrm>
            <a:off x="9408647" y="2847437"/>
            <a:ext cx="1010750" cy="786139"/>
          </a:xfrm>
          <a:prstGeom prst="line">
            <a:avLst/>
          </a:prstGeom>
          <a:noFill/>
          <a:ln w="22225">
            <a:solidFill>
              <a:schemeClr val="bg2"/>
            </a:solidFill>
            <a:prstDash val="solid"/>
            <a:tailEnd type="triangle"/>
          </a:ln>
        </p:spPr>
      </p:sp>
      <p:sp>
        <p:nvSpPr>
          <p:cNvPr id="11" name="Shape 9"/>
          <p:cNvSpPr/>
          <p:nvPr/>
        </p:nvSpPr>
        <p:spPr>
          <a:xfrm>
            <a:off x="10744200" y="2999232"/>
            <a:ext cx="914" cy="475488"/>
          </a:xfrm>
          <a:prstGeom prst="line">
            <a:avLst/>
          </a:prstGeom>
          <a:noFill/>
          <a:ln w="22225">
            <a:solidFill>
              <a:schemeClr val="bg2"/>
            </a:solidFill>
            <a:prstDash val="solid"/>
            <a:tailEnd type="triangle"/>
          </a:ln>
        </p:spPr>
      </p:sp>
      <p:sp>
        <p:nvSpPr>
          <p:cNvPr id="12" name="Shape 10"/>
          <p:cNvSpPr/>
          <p:nvPr/>
        </p:nvSpPr>
        <p:spPr>
          <a:xfrm>
            <a:off x="10744200" y="4279392"/>
            <a:ext cx="914" cy="475488"/>
          </a:xfrm>
          <a:prstGeom prst="line">
            <a:avLst/>
          </a:prstGeom>
          <a:noFill/>
          <a:ln w="22225">
            <a:solidFill>
              <a:schemeClr val="bg2"/>
            </a:solidFill>
            <a:prstDash val="solid"/>
            <a:tailEnd type="triangle"/>
          </a:ln>
        </p:spPr>
      </p:sp>
      <p:sp>
        <p:nvSpPr>
          <p:cNvPr id="13" name="état APT"/>
          <p:cNvSpPr/>
          <p:nvPr/>
        </p:nvSpPr>
        <p:spPr>
          <a:xfrm>
            <a:off x="9564624" y="969264"/>
            <a:ext cx="713232" cy="713232"/>
          </a:xfrm>
          <a:prstGeom prst="ellipse">
            <a:avLst/>
          </a:prstGeom>
          <a:solidFill>
            <a:schemeClr val="accent3"/>
          </a:solidFill>
          <a:ln w="9525">
            <a:solidFill>
              <a:schemeClr val="accent3"/>
            </a:solidFill>
            <a:prstDash val="solid"/>
          </a:ln>
        </p:spPr>
      </p:sp>
      <p:sp>
        <p:nvSpPr>
          <p:cNvPr id="14" name="Text 12"/>
          <p:cNvSpPr txBox="1"/>
          <p:nvPr/>
        </p:nvSpPr>
        <p:spPr>
          <a:xfrm>
            <a:off x="9564624" y="96926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APT</a:t>
            </a:r>
            <a:endParaRPr lang="fr-FR" sz="1500" dirty="0"/>
          </a:p>
        </p:txBody>
      </p:sp>
      <p:sp>
        <p:nvSpPr>
          <p:cNvPr id="15" name="état AT"/>
          <p:cNvSpPr/>
          <p:nvPr/>
        </p:nvSpPr>
        <p:spPr>
          <a:xfrm>
            <a:off x="8741664" y="2249424"/>
            <a:ext cx="713232" cy="713232"/>
          </a:xfrm>
          <a:prstGeom prst="ellipse">
            <a:avLst/>
          </a:prstGeom>
          <a:solidFill>
            <a:schemeClr val="accent3"/>
          </a:solidFill>
          <a:ln w="9525">
            <a:solidFill>
              <a:schemeClr val="accent3"/>
            </a:solidFill>
            <a:prstDash val="solid"/>
          </a:ln>
        </p:spPr>
      </p:sp>
      <p:sp>
        <p:nvSpPr>
          <p:cNvPr id="16" name="Text 14"/>
          <p:cNvSpPr txBox="1"/>
          <p:nvPr/>
        </p:nvSpPr>
        <p:spPr>
          <a:xfrm>
            <a:off x="8741664" y="224942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AT</a:t>
            </a:r>
            <a:endParaRPr lang="fr-FR" sz="1500" dirty="0"/>
          </a:p>
        </p:txBody>
      </p:sp>
      <p:sp>
        <p:nvSpPr>
          <p:cNvPr id="17" name="état AP"/>
          <p:cNvSpPr/>
          <p:nvPr/>
        </p:nvSpPr>
        <p:spPr>
          <a:xfrm>
            <a:off x="10387584" y="2249424"/>
            <a:ext cx="713232" cy="713232"/>
          </a:xfrm>
          <a:prstGeom prst="ellipse">
            <a:avLst/>
          </a:prstGeom>
          <a:solidFill>
            <a:schemeClr val="accent3"/>
          </a:solidFill>
          <a:ln w="9525">
            <a:solidFill>
              <a:schemeClr val="accent3"/>
            </a:solidFill>
            <a:prstDash val="solid"/>
          </a:ln>
        </p:spPr>
      </p:sp>
      <p:sp>
        <p:nvSpPr>
          <p:cNvPr id="18" name="Text 16"/>
          <p:cNvSpPr txBox="1"/>
          <p:nvPr/>
        </p:nvSpPr>
        <p:spPr>
          <a:xfrm>
            <a:off x="10387584" y="224942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AP</a:t>
            </a:r>
            <a:endParaRPr lang="fr-FR" sz="1500" dirty="0"/>
          </a:p>
        </p:txBody>
      </p:sp>
      <p:sp>
        <p:nvSpPr>
          <p:cNvPr id="19" name="état T"/>
          <p:cNvSpPr/>
          <p:nvPr/>
        </p:nvSpPr>
        <p:spPr>
          <a:xfrm>
            <a:off x="8741664" y="3529584"/>
            <a:ext cx="713232" cy="713232"/>
          </a:xfrm>
          <a:prstGeom prst="ellipse">
            <a:avLst/>
          </a:prstGeom>
          <a:solidFill>
            <a:schemeClr val="accent3"/>
          </a:solidFill>
          <a:ln w="38100">
            <a:solidFill>
              <a:schemeClr val="bg1"/>
            </a:solidFill>
            <a:prstDash val="solid"/>
          </a:ln>
        </p:spPr>
      </p:sp>
      <p:sp>
        <p:nvSpPr>
          <p:cNvPr id="20" name="Text 18"/>
          <p:cNvSpPr txBox="1"/>
          <p:nvPr/>
        </p:nvSpPr>
        <p:spPr>
          <a:xfrm>
            <a:off x="8741664" y="352958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T</a:t>
            </a:r>
            <a:endParaRPr lang="fr-FR" sz="1500" dirty="0"/>
          </a:p>
        </p:txBody>
      </p:sp>
      <p:sp>
        <p:nvSpPr>
          <p:cNvPr id="21" name="état A"/>
          <p:cNvSpPr/>
          <p:nvPr/>
        </p:nvSpPr>
        <p:spPr>
          <a:xfrm>
            <a:off x="10387584" y="3529584"/>
            <a:ext cx="713232" cy="713232"/>
          </a:xfrm>
          <a:prstGeom prst="ellipse">
            <a:avLst/>
          </a:prstGeom>
          <a:solidFill>
            <a:schemeClr val="accent3"/>
          </a:solidFill>
          <a:ln w="9525">
            <a:solidFill>
              <a:schemeClr val="accent3"/>
            </a:solidFill>
            <a:prstDash val="solid"/>
          </a:ln>
        </p:spPr>
      </p:sp>
      <p:sp>
        <p:nvSpPr>
          <p:cNvPr id="22" name="Text 20"/>
          <p:cNvSpPr txBox="1"/>
          <p:nvPr/>
        </p:nvSpPr>
        <p:spPr>
          <a:xfrm>
            <a:off x="10387584" y="352958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A</a:t>
            </a:r>
            <a:endParaRPr lang="fr-FR" sz="1500" dirty="0"/>
          </a:p>
        </p:txBody>
      </p:sp>
      <p:sp>
        <p:nvSpPr>
          <p:cNvPr id="23" name="état ∅"/>
          <p:cNvSpPr/>
          <p:nvPr/>
        </p:nvSpPr>
        <p:spPr>
          <a:xfrm>
            <a:off x="10387584" y="4809744"/>
            <a:ext cx="713232" cy="713232"/>
          </a:xfrm>
          <a:prstGeom prst="ellipse">
            <a:avLst/>
          </a:prstGeom>
          <a:solidFill>
            <a:schemeClr val="accent3"/>
          </a:solidFill>
          <a:ln w="38100">
            <a:solidFill>
              <a:schemeClr val="bg1"/>
            </a:solidFill>
            <a:prstDash val="solid"/>
          </a:ln>
        </p:spPr>
      </p:sp>
      <p:sp>
        <p:nvSpPr>
          <p:cNvPr id="24" name="Text 22"/>
          <p:cNvSpPr txBox="1"/>
          <p:nvPr/>
        </p:nvSpPr>
        <p:spPr>
          <a:xfrm>
            <a:off x="10387584" y="4809744"/>
            <a:ext cx="713232" cy="713232"/>
          </a:xfrm>
          <a:prstGeom prst="rect">
            <a:avLst/>
          </a:prstGeom>
          <a:noFill/>
          <a:ln/>
        </p:spPr>
        <p:txBody>
          <a:bodyPr wrap="square" lIns="0" tIns="0" rIns="0" bIns="0" rtlCol="0" anchor="ctr"/>
          <a:lstStyle/>
          <a:p>
            <a:pPr algn="ctr" indent="0" marL="0">
              <a:buNone/>
            </a:pPr>
            <a:r>
              <a:rPr lang="fr-FR" altLang="en-US" sz="1500" b="1" dirty="0">
                <a:solidFill>
                  <a:schemeClr val="tx1"/>
                </a:solidFill>
              </a:rPr>
              <a:t>∅</a:t>
            </a:r>
            <a:endParaRPr lang="fr-FR" sz="1500" dirty="0"/>
          </a:p>
        </p:txBody>
      </p:sp>
      <p:sp>
        <p:nvSpPr>
          <p:cNvPr id="25" name="Text 23"/>
          <p:cNvSpPr txBox="1"/>
          <p:nvPr/>
        </p:nvSpPr>
        <p:spPr>
          <a:xfrm>
            <a:off x="8275320" y="5760720"/>
            <a:ext cx="3291840" cy="502920"/>
          </a:xfrm>
          <a:prstGeom prst="rect">
            <a:avLst/>
          </a:prstGeom>
          <a:noFill/>
          <a:ln/>
        </p:spPr>
        <p:txBody>
          <a:bodyPr wrap="square" lIns="0" tIns="0" rIns="0" bIns="0" rtlCol="0" anchor="t"/>
          <a:lstStyle/>
          <a:p>
            <a:pPr indent="0" marL="0">
              <a:buNone/>
            </a:pPr>
            <a:r>
              <a:rPr lang="fr-FR" altLang="en-US" sz="1100" dirty="0">
                <a:solidFill>
                  <a:schemeClr val="accent3"/>
                </a:solidFill>
              </a:rPr>
              <a:t>États accessibles depuis {APT}, mode asynchrone. Contour blanc : état stable.</a:t>
            </a:r>
            <a:endParaRPr lang="fr-F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Modéliser un écosystème sans ses paramètres</a:t>
            </a:r>
            <a:endParaRPr lang="fr-FR" sz="3000" dirty="0"/>
          </a:p>
        </p:txBody>
      </p:sp>
      <p:sp>
        <p:nvSpPr>
          <p:cNvPr id="3" name="carte quantitatif"/>
          <p:cNvSpPr/>
          <p:nvPr/>
        </p:nvSpPr>
        <p:spPr>
          <a:xfrm>
            <a:off x="548640" y="1417320"/>
            <a:ext cx="5349240" cy="3566160"/>
          </a:xfrm>
          <a:prstGeom prst="roundRect">
            <a:avLst>
              <a:gd name="adj" fmla="val 2051"/>
            </a:avLst>
          </a:prstGeom>
          <a:solidFill>
            <a:schemeClr val="accent6">
              <a:alpha val="12000"/>
            </a:schemeClr>
          </a:solidFill>
          <a:ln/>
          <a:effectLst>
            <a:outerShdw sx="100000" sy="100000" kx="0" ky="0" algn="bl" rotWithShape="0" blurRad="76200" dist="25400" dir="5400000">
              <a:srgbClr val="1D2B36">
                <a:alpha val="12000"/>
              </a:srgbClr>
            </a:outerShdw>
          </a:effectLst>
        </p:spPr>
      </p:sp>
      <p:sp>
        <p:nvSpPr>
          <p:cNvPr id="4" name="Text 2"/>
          <p:cNvSpPr txBox="1"/>
          <p:nvPr/>
        </p:nvSpPr>
        <p:spPr>
          <a:xfrm>
            <a:off x="868680" y="1645920"/>
            <a:ext cx="4754880" cy="411480"/>
          </a:xfrm>
          <a:prstGeom prst="rect">
            <a:avLst/>
          </a:prstGeom>
          <a:noFill/>
          <a:ln/>
        </p:spPr>
        <p:txBody>
          <a:bodyPr wrap="square" lIns="0" tIns="0" rIns="0" bIns="0" rtlCol="0" anchor="t"/>
          <a:lstStyle/>
          <a:p>
            <a:pPr indent="0" marL="0">
              <a:buNone/>
            </a:pPr>
            <a:r>
              <a:rPr lang="fr-FR" altLang="en-US" sz="2000" b="1" dirty="0">
                <a:solidFill>
                  <a:schemeClr val="tx1"/>
                </a:solidFill>
              </a:rPr>
              <a:t>Modèle quantitatif</a:t>
            </a:r>
            <a:endParaRPr lang="fr-FR" sz="2000" dirty="0"/>
          </a:p>
        </p:txBody>
      </p:sp>
      <p:sp>
        <p:nvSpPr>
          <p:cNvPr id="5" name="Text 3"/>
          <p:cNvSpPr txBox="1"/>
          <p:nvPr/>
        </p:nvSpPr>
        <p:spPr>
          <a:xfrm>
            <a:off x="868680" y="2240280"/>
            <a:ext cx="4754880" cy="548640"/>
          </a:xfrm>
          <a:prstGeom prst="rect">
            <a:avLst/>
          </a:prstGeom>
          <a:noFill/>
          <a:ln/>
        </p:spPr>
        <p:txBody>
          <a:bodyPr wrap="square" lIns="0" tIns="0" rIns="0" bIns="0" rtlCol="0" anchor="t"/>
          <a:lstStyle/>
          <a:p>
            <a:pPr indent="0" marL="0">
              <a:buNone/>
            </a:pPr>
            <a:r>
              <a:rPr lang="fr-FR" altLang="en-US" sz="2600" dirty="0">
                <a:solidFill>
                  <a:schemeClr val="tx1"/>
                </a:solidFill>
                <a:latin typeface="+mj-lt" pitchFamily="34" charset="0"/>
                <a:ea typeface="+mj-lt" pitchFamily="34" charset="-122"/>
                <a:cs typeface="+mj-lt" pitchFamily="34" charset="-120"/>
              </a:rPr>
              <a:t>dP/dt = r·P·(1 − P/K) − a·A·P</a:t>
            </a:r>
            <a:endParaRPr lang="fr-FR" sz="2600" dirty="0"/>
          </a:p>
        </p:txBody>
      </p:sp>
      <p:sp>
        <p:nvSpPr>
          <p:cNvPr id="6" name="Text 4"/>
          <p:cNvSpPr txBox="1"/>
          <p:nvPr/>
        </p:nvSpPr>
        <p:spPr>
          <a:xfrm>
            <a:off x="868680" y="3063240"/>
            <a:ext cx="4754880" cy="1783080"/>
          </a:xfrm>
          <a:prstGeom prst="rect">
            <a:avLst/>
          </a:prstGeom>
          <a:noFill/>
          <a:ln/>
        </p:spPr>
        <p:txBody>
          <a:bodyPr wrap="square" lIns="0" tIns="0" rIns="0" bIns="0" rtlCol="0" anchor="t"/>
          <a:lstStyle/>
          <a:p>
            <a:pPr marL="342900" indent="-342900">
              <a:spcAft>
                <a:spcPts val="800"/>
              </a:spcAft>
              <a:buSzPct val="100000"/>
              <a:buChar char="•"/>
            </a:pPr>
            <a:r>
              <a:rPr lang="fr-FR" altLang="en-US" sz="1800" dirty="0">
                <a:solidFill>
                  <a:schemeClr val="tx1"/>
                </a:solidFill>
              </a:rPr>
              <a:t>r, K, a : des paramètres à mesurer pour chaque espèce</a:t>
            </a:r>
            <a:endParaRPr lang="fr-FR" sz="1800" dirty="0"/>
          </a:p>
          <a:p>
            <a:pPr marL="342900" indent="-342900">
              <a:spcAft>
                <a:spcPts val="800"/>
              </a:spcAft>
              <a:buSzPct val="100000"/>
              <a:buChar char="•"/>
            </a:pPr>
            <a:r>
              <a:rPr lang="fr-FR" altLang="en-US" sz="1800" dirty="0">
                <a:solidFill>
                  <a:schemeClr val="tx1"/>
                </a:solidFill>
              </a:rPr>
              <a:t>En écologie, ces mesures sont rares, coûteuses et varient dans le temps</a:t>
            </a:r>
            <a:endParaRPr lang="fr-FR" sz="1800" dirty="0"/>
          </a:p>
        </p:txBody>
      </p:sp>
      <p:sp>
        <p:nvSpPr>
          <p:cNvPr id="7" name="carte qualitatif"/>
          <p:cNvSpPr/>
          <p:nvPr/>
        </p:nvSpPr>
        <p:spPr>
          <a:xfrm>
            <a:off x="6291072" y="1417320"/>
            <a:ext cx="5349240" cy="3566160"/>
          </a:xfrm>
          <a:prstGeom prst="roundRect">
            <a:avLst>
              <a:gd name="adj" fmla="val 2051"/>
            </a:avLst>
          </a:prstGeom>
          <a:solidFill>
            <a:schemeClr val="accent3">
              <a:alpha val="38000"/>
            </a:schemeClr>
          </a:solidFill>
          <a:ln/>
          <a:effectLst>
            <a:outerShdw sx="100000" sy="100000" kx="0" ky="0" algn="bl" rotWithShape="0" blurRad="76200" dist="25400" dir="5400000">
              <a:srgbClr val="1D2B36">
                <a:alpha val="12000"/>
              </a:srgbClr>
            </a:outerShdw>
          </a:effectLst>
        </p:spPr>
      </p:sp>
      <p:sp>
        <p:nvSpPr>
          <p:cNvPr id="8" name="Text 6"/>
          <p:cNvSpPr txBox="1"/>
          <p:nvPr/>
        </p:nvSpPr>
        <p:spPr>
          <a:xfrm>
            <a:off x="6611112" y="1645920"/>
            <a:ext cx="4754880" cy="411480"/>
          </a:xfrm>
          <a:prstGeom prst="rect">
            <a:avLst/>
          </a:prstGeom>
          <a:noFill/>
          <a:ln/>
        </p:spPr>
        <p:txBody>
          <a:bodyPr wrap="square" lIns="0" tIns="0" rIns="0" bIns="0" rtlCol="0" anchor="t"/>
          <a:lstStyle/>
          <a:p>
            <a:pPr indent="0" marL="0">
              <a:buNone/>
            </a:pPr>
            <a:r>
              <a:rPr lang="fr-FR" altLang="en-US" sz="2000" b="1" dirty="0">
                <a:solidFill>
                  <a:schemeClr val="tx1"/>
                </a:solidFill>
              </a:rPr>
              <a:t>Modèle qualitatif</a:t>
            </a:r>
            <a:endParaRPr lang="fr-FR" sz="2000" dirty="0"/>
          </a:p>
        </p:txBody>
      </p:sp>
      <p:sp>
        <p:nvSpPr>
          <p:cNvPr id="9" name="Text 7"/>
          <p:cNvSpPr txBox="1"/>
          <p:nvPr/>
        </p:nvSpPr>
        <p:spPr>
          <a:xfrm>
            <a:off x="6611112" y="2194560"/>
            <a:ext cx="4754880" cy="594360"/>
          </a:xfrm>
          <a:prstGeom prst="rect">
            <a:avLst/>
          </a:prstGeom>
          <a:noFill/>
          <a:ln/>
        </p:spPr>
        <p:txBody>
          <a:bodyPr wrap="square" lIns="0" tIns="0" rIns="0" bIns="0" rtlCol="0" anchor="t"/>
          <a:lstStyle/>
          <a:p>
            <a:pPr indent="0" marL="0">
              <a:buNone/>
            </a:pPr>
            <a:r>
              <a:rPr lang="fr-FR" altLang="en-US" sz="3200" b="1" dirty="0">
                <a:solidFill>
                  <a:schemeClr val="tx1"/>
                </a:solidFill>
                <a:latin typeface="Courier New" pitchFamily="34" charset="0"/>
                <a:ea typeface="Courier New" pitchFamily="34" charset="-122"/>
                <a:cs typeface="Courier New" pitchFamily="34" charset="-120"/>
              </a:rPr>
              <a:t>A+ &gt;&gt; P-</a:t>
            </a:r>
            <a:endParaRPr lang="fr-FR" sz="3200" dirty="0"/>
          </a:p>
        </p:txBody>
      </p:sp>
      <p:sp>
        <p:nvSpPr>
          <p:cNvPr id="10" name="Text 8"/>
          <p:cNvSpPr txBox="1"/>
          <p:nvPr/>
        </p:nvSpPr>
        <p:spPr>
          <a:xfrm>
            <a:off x="6611112" y="2834640"/>
            <a:ext cx="4754880" cy="411480"/>
          </a:xfrm>
          <a:prstGeom prst="rect">
            <a:avLst/>
          </a:prstGeom>
          <a:noFill/>
          <a:ln/>
        </p:spPr>
        <p:txBody>
          <a:bodyPr wrap="square" lIns="0" tIns="0" rIns="0" bIns="0" rtlCol="0" anchor="t"/>
          <a:lstStyle/>
          <a:p>
            <a:pPr indent="0" marL="0">
              <a:buNone/>
            </a:pPr>
            <a:r>
              <a:rPr lang="fr-FR" altLang="en-US" sz="1800" i="1" dirty="0">
                <a:solidFill>
                  <a:schemeClr val="tx1"/>
                </a:solidFill>
              </a:rPr>
              <a:t>« si A est présente, P peut disparaître »</a:t>
            </a:r>
            <a:endParaRPr lang="fr-FR" sz="1800" dirty="0"/>
          </a:p>
        </p:txBody>
      </p:sp>
      <p:sp>
        <p:nvSpPr>
          <p:cNvPr id="11" name="Text 9"/>
          <p:cNvSpPr txBox="1"/>
          <p:nvPr/>
        </p:nvSpPr>
        <p:spPr>
          <a:xfrm>
            <a:off x="6611112" y="3429000"/>
            <a:ext cx="4754880" cy="1371600"/>
          </a:xfrm>
          <a:prstGeom prst="rect">
            <a:avLst/>
          </a:prstGeom>
          <a:noFill/>
          <a:ln/>
        </p:spPr>
        <p:txBody>
          <a:bodyPr wrap="square" lIns="0" tIns="0" rIns="0" bIns="0" rtlCol="0" anchor="t"/>
          <a:lstStyle/>
          <a:p>
            <a:pPr marL="342900" indent="-342900">
              <a:spcAft>
                <a:spcPts val="800"/>
              </a:spcAft>
              <a:buSzPct val="100000"/>
              <a:buChar char="•"/>
            </a:pPr>
            <a:r>
              <a:rPr lang="fr-FR" altLang="en-US" sz="1800" dirty="0">
                <a:solidFill>
                  <a:schemeClr val="tx1"/>
                </a:solidFill>
              </a:rPr>
              <a:t>Chaque espèce est présente (+) ou absente (−)</a:t>
            </a:r>
            <a:endParaRPr lang="fr-FR" sz="1800" dirty="0"/>
          </a:p>
          <a:p>
            <a:pPr marL="342900" indent="-342900">
              <a:spcAft>
                <a:spcPts val="800"/>
              </a:spcAft>
              <a:buSzPct val="100000"/>
              <a:buChar char="•"/>
            </a:pPr>
            <a:r>
              <a:rPr lang="fr-FR" altLang="en-US" sz="1800" dirty="0">
                <a:solidFill>
                  <a:schemeClr val="tx1"/>
                </a:solidFill>
              </a:rPr>
              <a:t>Aucun paramètre à estimer</a:t>
            </a:r>
            <a:endParaRPr lang="fr-FR" sz="1800" dirty="0"/>
          </a:p>
        </p:txBody>
      </p:sp>
      <p:sp>
        <p:nvSpPr>
          <p:cNvPr id="12" name="pastille →"/>
          <p:cNvSpPr/>
          <p:nvPr/>
        </p:nvSpPr>
        <p:spPr>
          <a:xfrm>
            <a:off x="548640" y="5257800"/>
            <a:ext cx="457200" cy="457200"/>
          </a:xfrm>
          <a:prstGeom prst="ellipse">
            <a:avLst/>
          </a:prstGeom>
          <a:solidFill>
            <a:schemeClr val="accent1"/>
          </a:solidFill>
          <a:ln w="9525">
            <a:solidFill>
              <a:schemeClr val="accent1"/>
            </a:solidFill>
            <a:prstDash val="solid"/>
          </a:ln>
        </p:spPr>
      </p:sp>
      <p:sp>
        <p:nvSpPr>
          <p:cNvPr id="13" name="Text 11"/>
          <p:cNvSpPr txBox="1"/>
          <p:nvPr/>
        </p:nvSpPr>
        <p:spPr>
          <a:xfrm>
            <a:off x="548640" y="5257800"/>
            <a:ext cx="457200" cy="457200"/>
          </a:xfrm>
          <a:prstGeom prst="rect">
            <a:avLst/>
          </a:prstGeom>
          <a:noFill/>
          <a:ln/>
        </p:spPr>
        <p:txBody>
          <a:bodyPr wrap="square" lIns="0" tIns="0" rIns="0" bIns="0" rtlCol="0" anchor="ctr"/>
          <a:lstStyle/>
          <a:p>
            <a:pPr algn="ctr" indent="0" marL="0">
              <a:buNone/>
            </a:pPr>
            <a:r>
              <a:rPr lang="fr-FR" altLang="en-US" sz="1800" b="1" dirty="0">
                <a:solidFill>
                  <a:schemeClr val="bg1"/>
                </a:solidFill>
              </a:rPr>
              <a:t>→</a:t>
            </a:r>
            <a:endParaRPr lang="fr-FR" sz="1800" dirty="0"/>
          </a:p>
        </p:txBody>
      </p:sp>
      <p:sp>
        <p:nvSpPr>
          <p:cNvPr id="14" name="Text 12"/>
          <p:cNvSpPr txBox="1"/>
          <p:nvPr/>
        </p:nvSpPr>
        <p:spPr>
          <a:xfrm>
            <a:off x="1188720" y="5285232"/>
            <a:ext cx="10424160" cy="411480"/>
          </a:xfrm>
          <a:prstGeom prst="rect">
            <a:avLst/>
          </a:prstGeom>
          <a:noFill/>
          <a:ln/>
        </p:spPr>
        <p:txBody>
          <a:bodyPr wrap="square" lIns="0" tIns="0" rIns="0" bIns="0" rtlCol="0" anchor="ctr"/>
          <a:lstStyle/>
          <a:p>
            <a:pPr indent="0" marL="0">
              <a:buNone/>
            </a:pPr>
            <a:r>
              <a:rPr lang="fr-FR" altLang="en-US" sz="1800" b="1" dirty="0">
                <a:solidFill>
                  <a:schemeClr val="tx1"/>
                </a:solidFill>
              </a:rPr>
              <a:t>Notre travail : </a:t>
            </a:r>
            <a:pPr indent="0" marL="0">
              <a:buNone/>
            </a:pPr>
            <a:r>
              <a:rPr lang="fr-FR" altLang="en-US" sz="1800" dirty="0">
                <a:solidFill>
                  <a:schemeClr val="tx1"/>
                </a:solidFill>
              </a:rPr>
              <a:t>reproduire deux expériences de l'article avec l'outil ecco (F. Pommereau, IBISC, Évry)</a:t>
            </a:r>
            <a:endParaRPr lang="fr-FR"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Une revue historique qui débouche sur une proposition</a:t>
            </a:r>
            <a:endParaRPr lang="fr-FR" sz="3000" dirty="0"/>
          </a:p>
        </p:txBody>
      </p:sp>
      <p:sp>
        <p:nvSpPr>
          <p:cNvPr id="3" name="Shape 1"/>
          <p:cNvSpPr/>
          <p:nvPr/>
        </p:nvSpPr>
        <p:spPr>
          <a:xfrm>
            <a:off x="1325880" y="2103120"/>
            <a:ext cx="9555480" cy="0"/>
          </a:xfrm>
          <a:prstGeom prst="line">
            <a:avLst/>
          </a:prstGeom>
          <a:noFill/>
          <a:ln w="25400">
            <a:solidFill>
              <a:schemeClr val="accent6"/>
            </a:solidFill>
            <a:prstDash val="solid"/>
          </a:ln>
        </p:spPr>
      </p:sp>
      <p:sp>
        <p:nvSpPr>
          <p:cNvPr id="4" name="jalon 1880"/>
          <p:cNvSpPr/>
          <p:nvPr/>
        </p:nvSpPr>
        <p:spPr>
          <a:xfrm>
            <a:off x="1161288" y="1938528"/>
            <a:ext cx="329184" cy="329184"/>
          </a:xfrm>
          <a:prstGeom prst="ellipse">
            <a:avLst/>
          </a:prstGeom>
          <a:solidFill>
            <a:schemeClr val="accent6"/>
          </a:solidFill>
          <a:ln w="9525">
            <a:solidFill>
              <a:schemeClr val="accent6"/>
            </a:solidFill>
            <a:prstDash val="solid"/>
          </a:ln>
        </p:spPr>
      </p:sp>
      <p:sp>
        <p:nvSpPr>
          <p:cNvPr id="5" name="Text 3"/>
          <p:cNvSpPr txBox="1"/>
          <p:nvPr/>
        </p:nvSpPr>
        <p:spPr>
          <a:xfrm>
            <a:off x="411480"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tx1"/>
                </a:solidFill>
              </a:rPr>
              <a:t>1880</a:t>
            </a:r>
            <a:endParaRPr lang="fr-FR" sz="1600" dirty="0"/>
          </a:p>
        </p:txBody>
      </p:sp>
      <p:sp>
        <p:nvSpPr>
          <p:cNvPr id="6" name="Text 4"/>
          <p:cNvSpPr txBox="1"/>
          <p:nvPr/>
        </p:nvSpPr>
        <p:spPr>
          <a:xfrm>
            <a:off x="411480"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Réseaux de réactions (Camerano)</a:t>
            </a:r>
            <a:endParaRPr lang="fr-FR" sz="1400" dirty="0"/>
          </a:p>
        </p:txBody>
      </p:sp>
      <p:sp>
        <p:nvSpPr>
          <p:cNvPr id="7" name="jalon Années 1950"/>
          <p:cNvSpPr/>
          <p:nvPr/>
        </p:nvSpPr>
        <p:spPr>
          <a:xfrm>
            <a:off x="3072384" y="1938528"/>
            <a:ext cx="329184" cy="329184"/>
          </a:xfrm>
          <a:prstGeom prst="ellipse">
            <a:avLst/>
          </a:prstGeom>
          <a:solidFill>
            <a:schemeClr val="accent6"/>
          </a:solidFill>
          <a:ln w="9525">
            <a:solidFill>
              <a:schemeClr val="accent6"/>
            </a:solidFill>
            <a:prstDash val="solid"/>
          </a:ln>
        </p:spPr>
      </p:sp>
      <p:sp>
        <p:nvSpPr>
          <p:cNvPr id="8" name="Text 6"/>
          <p:cNvSpPr txBox="1"/>
          <p:nvPr/>
        </p:nvSpPr>
        <p:spPr>
          <a:xfrm>
            <a:off x="2322576"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tx1"/>
                </a:solidFill>
              </a:rPr>
              <a:t>Années 1950</a:t>
            </a:r>
            <a:endParaRPr lang="fr-FR" sz="1600" dirty="0"/>
          </a:p>
        </p:txBody>
      </p:sp>
      <p:sp>
        <p:nvSpPr>
          <p:cNvPr id="9" name="Text 7"/>
          <p:cNvSpPr txBox="1"/>
          <p:nvPr/>
        </p:nvSpPr>
        <p:spPr>
          <a:xfrm>
            <a:off x="2322576"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Modèles à compartiments (EDO)</a:t>
            </a:r>
            <a:endParaRPr lang="fr-FR" sz="1400" dirty="0"/>
          </a:p>
        </p:txBody>
      </p:sp>
      <p:sp>
        <p:nvSpPr>
          <p:cNvPr id="10" name="jalon 1974"/>
          <p:cNvSpPr/>
          <p:nvPr/>
        </p:nvSpPr>
        <p:spPr>
          <a:xfrm>
            <a:off x="4983480" y="1938528"/>
            <a:ext cx="329184" cy="329184"/>
          </a:xfrm>
          <a:prstGeom prst="ellipse">
            <a:avLst/>
          </a:prstGeom>
          <a:solidFill>
            <a:schemeClr val="accent6"/>
          </a:solidFill>
          <a:ln w="9525">
            <a:solidFill>
              <a:schemeClr val="accent6"/>
            </a:solidFill>
            <a:prstDash val="solid"/>
          </a:ln>
        </p:spPr>
      </p:sp>
      <p:sp>
        <p:nvSpPr>
          <p:cNvPr id="11" name="Text 9"/>
          <p:cNvSpPr txBox="1"/>
          <p:nvPr/>
        </p:nvSpPr>
        <p:spPr>
          <a:xfrm>
            <a:off x="4233672"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tx1"/>
                </a:solidFill>
              </a:rPr>
              <a:t>1974</a:t>
            </a:r>
            <a:endParaRPr lang="fr-FR" sz="1600" dirty="0"/>
          </a:p>
        </p:txBody>
      </p:sp>
      <p:sp>
        <p:nvSpPr>
          <p:cNvPr id="12" name="Text 10"/>
          <p:cNvSpPr txBox="1"/>
          <p:nvPr/>
        </p:nvSpPr>
        <p:spPr>
          <a:xfrm>
            <a:off x="4233672"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Loop analysis (Levins)</a:t>
            </a:r>
            <a:endParaRPr lang="fr-FR" sz="1400" dirty="0"/>
          </a:p>
        </p:txBody>
      </p:sp>
      <p:sp>
        <p:nvSpPr>
          <p:cNvPr id="13" name="jalon 1989"/>
          <p:cNvSpPr/>
          <p:nvPr/>
        </p:nvSpPr>
        <p:spPr>
          <a:xfrm>
            <a:off x="6894576" y="1938528"/>
            <a:ext cx="329184" cy="329184"/>
          </a:xfrm>
          <a:prstGeom prst="ellipse">
            <a:avLst/>
          </a:prstGeom>
          <a:solidFill>
            <a:schemeClr val="accent6"/>
          </a:solidFill>
          <a:ln w="9525">
            <a:solidFill>
              <a:schemeClr val="accent6"/>
            </a:solidFill>
            <a:prstDash val="solid"/>
          </a:ln>
        </p:spPr>
      </p:sp>
      <p:sp>
        <p:nvSpPr>
          <p:cNvPr id="14" name="Text 12"/>
          <p:cNvSpPr txBox="1"/>
          <p:nvPr/>
        </p:nvSpPr>
        <p:spPr>
          <a:xfrm>
            <a:off x="6144768"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tx1"/>
                </a:solidFill>
              </a:rPr>
              <a:t>1989</a:t>
            </a:r>
            <a:endParaRPr lang="fr-FR" sz="1600" dirty="0"/>
          </a:p>
        </p:txBody>
      </p:sp>
      <p:sp>
        <p:nvSpPr>
          <p:cNvPr id="15" name="Text 13"/>
          <p:cNvSpPr txBox="1"/>
          <p:nvPr/>
        </p:nvSpPr>
        <p:spPr>
          <a:xfrm>
            <a:off x="6144768"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Modèles état-transition</a:t>
            </a:r>
            <a:endParaRPr lang="fr-FR" sz="1400" dirty="0"/>
          </a:p>
        </p:txBody>
      </p:sp>
      <p:sp>
        <p:nvSpPr>
          <p:cNvPr id="16" name="jalon Années 1990"/>
          <p:cNvSpPr/>
          <p:nvPr/>
        </p:nvSpPr>
        <p:spPr>
          <a:xfrm>
            <a:off x="8805672" y="1938528"/>
            <a:ext cx="329184" cy="329184"/>
          </a:xfrm>
          <a:prstGeom prst="ellipse">
            <a:avLst/>
          </a:prstGeom>
          <a:solidFill>
            <a:schemeClr val="accent6"/>
          </a:solidFill>
          <a:ln w="9525">
            <a:solidFill>
              <a:schemeClr val="accent6"/>
            </a:solidFill>
            <a:prstDash val="solid"/>
          </a:ln>
        </p:spPr>
      </p:sp>
      <p:sp>
        <p:nvSpPr>
          <p:cNvPr id="17" name="Text 15"/>
          <p:cNvSpPr txBox="1"/>
          <p:nvPr/>
        </p:nvSpPr>
        <p:spPr>
          <a:xfrm>
            <a:off x="8055864"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tx1"/>
                </a:solidFill>
              </a:rPr>
              <a:t>Années 1990</a:t>
            </a:r>
            <a:endParaRPr lang="fr-FR" sz="1600" dirty="0"/>
          </a:p>
        </p:txBody>
      </p:sp>
      <p:sp>
        <p:nvSpPr>
          <p:cNvPr id="18" name="Text 16"/>
          <p:cNvSpPr txBox="1"/>
          <p:nvPr/>
        </p:nvSpPr>
        <p:spPr>
          <a:xfrm>
            <a:off x="8055864"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Raisonnement qualitatif (QSIM, Garp3)</a:t>
            </a:r>
            <a:endParaRPr lang="fr-FR" sz="1400" dirty="0"/>
          </a:p>
        </p:txBody>
      </p:sp>
      <p:sp>
        <p:nvSpPr>
          <p:cNvPr id="19" name="jalon 2019"/>
          <p:cNvSpPr/>
          <p:nvPr/>
        </p:nvSpPr>
        <p:spPr>
          <a:xfrm>
            <a:off x="10652760" y="1874520"/>
            <a:ext cx="457200" cy="457200"/>
          </a:xfrm>
          <a:prstGeom prst="ellipse">
            <a:avLst/>
          </a:prstGeom>
          <a:solidFill>
            <a:schemeClr val="accent1"/>
          </a:solidFill>
          <a:ln w="9525">
            <a:solidFill>
              <a:schemeClr val="accent1"/>
            </a:solidFill>
            <a:prstDash val="solid"/>
          </a:ln>
        </p:spPr>
      </p:sp>
      <p:sp>
        <p:nvSpPr>
          <p:cNvPr id="20" name="Text 18"/>
          <p:cNvSpPr txBox="1"/>
          <p:nvPr/>
        </p:nvSpPr>
        <p:spPr>
          <a:xfrm>
            <a:off x="9966960" y="1417320"/>
            <a:ext cx="1828800" cy="365760"/>
          </a:xfrm>
          <a:prstGeom prst="rect">
            <a:avLst/>
          </a:prstGeom>
          <a:noFill/>
          <a:ln/>
        </p:spPr>
        <p:txBody>
          <a:bodyPr wrap="square" lIns="0" tIns="0" rIns="0" bIns="0" rtlCol="0" anchor="t"/>
          <a:lstStyle/>
          <a:p>
            <a:pPr algn="ctr" indent="0" marL="0">
              <a:buNone/>
            </a:pPr>
            <a:r>
              <a:rPr lang="fr-FR" altLang="en-US" sz="1600" b="1" dirty="0">
                <a:solidFill>
                  <a:schemeClr val="accent1"/>
                </a:solidFill>
              </a:rPr>
              <a:t>2019</a:t>
            </a:r>
            <a:endParaRPr lang="fr-FR" sz="1600" dirty="0"/>
          </a:p>
        </p:txBody>
      </p:sp>
      <p:sp>
        <p:nvSpPr>
          <p:cNvPr id="21" name="Text 19"/>
          <p:cNvSpPr txBox="1"/>
          <p:nvPr/>
        </p:nvSpPr>
        <p:spPr>
          <a:xfrm>
            <a:off x="9966960" y="2468880"/>
            <a:ext cx="1828800" cy="868680"/>
          </a:xfrm>
          <a:prstGeom prst="rect">
            <a:avLst/>
          </a:prstGeom>
          <a:noFill/>
          <a:ln/>
        </p:spPr>
        <p:txBody>
          <a:bodyPr wrap="square" lIns="0" tIns="0" rIns="0" bIns="0" rtlCol="0" anchor="t"/>
          <a:lstStyle/>
          <a:p>
            <a:pPr algn="ctr" indent="0" marL="0">
              <a:buNone/>
            </a:pPr>
            <a:r>
              <a:rPr lang="fr-FR" altLang="en-US" sz="1400" dirty="0">
                <a:solidFill>
                  <a:schemeClr val="tx1"/>
                </a:solidFill>
              </a:rPr>
              <a:t>EDEN et ecco</a:t>
            </a:r>
            <a:endParaRPr lang="fr-FR" sz="1400" dirty="0"/>
          </a:p>
        </p:txBody>
      </p:sp>
      <p:sp>
        <p:nvSpPr>
          <p:cNvPr id="22" name="Text 20"/>
          <p:cNvSpPr txBox="1"/>
          <p:nvPr/>
        </p:nvSpPr>
        <p:spPr>
          <a:xfrm>
            <a:off x="548640" y="3611880"/>
            <a:ext cx="7315200" cy="411480"/>
          </a:xfrm>
          <a:prstGeom prst="rect">
            <a:avLst/>
          </a:prstGeom>
          <a:noFill/>
          <a:ln/>
        </p:spPr>
        <p:txBody>
          <a:bodyPr wrap="square" lIns="0" tIns="0" rIns="0" bIns="0" rtlCol="0" anchor="t"/>
          <a:lstStyle/>
          <a:p>
            <a:pPr indent="0" marL="0">
              <a:buNone/>
            </a:pPr>
            <a:r>
              <a:rPr lang="fr-FR" altLang="en-US" sz="2000" b="1" dirty="0">
                <a:solidFill>
                  <a:schemeClr val="tx1"/>
                </a:solidFill>
              </a:rPr>
              <a:t>EDEN combine quatre choix</a:t>
            </a:r>
            <a:endParaRPr lang="fr-FR" sz="2000" dirty="0"/>
          </a:p>
        </p:txBody>
      </p:sp>
      <p:sp>
        <p:nvSpPr>
          <p:cNvPr id="23" name="choix Qualitatif"/>
          <p:cNvSpPr/>
          <p:nvPr/>
        </p:nvSpPr>
        <p:spPr>
          <a:xfrm>
            <a:off x="548640" y="4160520"/>
            <a:ext cx="2642616" cy="1783080"/>
          </a:xfrm>
          <a:prstGeom prst="roundRect">
            <a:avLst>
              <a:gd name="adj" fmla="val 4103"/>
            </a:avLst>
          </a:prstGeom>
          <a:solidFill>
            <a:schemeClr val="bg2"/>
          </a:solidFill>
          <a:ln/>
          <a:effectLst>
            <a:outerShdw sx="100000" sy="100000" kx="0" ky="0" algn="bl" rotWithShape="0" blurRad="76200" dist="25400" dir="5400000">
              <a:srgbClr val="1D2B36">
                <a:alpha val="12000"/>
              </a:srgbClr>
            </a:outerShdw>
          </a:effectLst>
        </p:spPr>
      </p:sp>
      <p:sp>
        <p:nvSpPr>
          <p:cNvPr id="24" name="pastille 1"/>
          <p:cNvSpPr/>
          <p:nvPr/>
        </p:nvSpPr>
        <p:spPr>
          <a:xfrm>
            <a:off x="777240" y="4343400"/>
            <a:ext cx="457200" cy="457200"/>
          </a:xfrm>
          <a:prstGeom prst="ellipse">
            <a:avLst/>
          </a:prstGeom>
          <a:solidFill>
            <a:schemeClr val="accent1"/>
          </a:solidFill>
          <a:ln w="9525">
            <a:solidFill>
              <a:schemeClr val="accent1"/>
            </a:solidFill>
            <a:prstDash val="solid"/>
          </a:ln>
        </p:spPr>
      </p:sp>
      <p:sp>
        <p:nvSpPr>
          <p:cNvPr id="25" name="Text 23"/>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fr-FR" altLang="en-US" sz="1600" b="1" dirty="0">
                <a:solidFill>
                  <a:schemeClr val="bg1"/>
                </a:solidFill>
              </a:rPr>
              <a:t>1</a:t>
            </a:r>
            <a:endParaRPr lang="fr-FR" sz="1600" dirty="0"/>
          </a:p>
        </p:txBody>
      </p:sp>
      <p:sp>
        <p:nvSpPr>
          <p:cNvPr id="26" name="Text 24"/>
          <p:cNvSpPr txBox="1"/>
          <p:nvPr/>
        </p:nvSpPr>
        <p:spPr>
          <a:xfrm>
            <a:off x="1371600" y="4389120"/>
            <a:ext cx="1737360" cy="411480"/>
          </a:xfrm>
          <a:prstGeom prst="rect">
            <a:avLst/>
          </a:prstGeom>
          <a:noFill/>
          <a:ln/>
        </p:spPr>
        <p:txBody>
          <a:bodyPr wrap="square" lIns="0" tIns="0" rIns="0" bIns="0" rtlCol="0" anchor="ctr"/>
          <a:lstStyle/>
          <a:p>
            <a:pPr indent="0" marL="0">
              <a:buNone/>
            </a:pPr>
            <a:r>
              <a:rPr lang="fr-FR" altLang="en-US" sz="1700" b="1" dirty="0">
                <a:solidFill>
                  <a:schemeClr val="tx1"/>
                </a:solidFill>
              </a:rPr>
              <a:t>Qualitatif</a:t>
            </a:r>
            <a:endParaRPr lang="fr-FR" sz="1700" dirty="0"/>
          </a:p>
        </p:txBody>
      </p:sp>
      <p:sp>
        <p:nvSpPr>
          <p:cNvPr id="27" name="Text 25"/>
          <p:cNvSpPr txBox="1"/>
          <p:nvPr/>
        </p:nvSpPr>
        <p:spPr>
          <a:xfrm>
            <a:off x="822960" y="4983480"/>
            <a:ext cx="2194560" cy="822960"/>
          </a:xfrm>
          <a:prstGeom prst="rect">
            <a:avLst/>
          </a:prstGeom>
          <a:noFill/>
          <a:ln/>
        </p:spPr>
        <p:txBody>
          <a:bodyPr wrap="square" lIns="0" tIns="0" rIns="0" bIns="0" rtlCol="0" anchor="t"/>
          <a:lstStyle/>
          <a:p>
            <a:pPr indent="0" marL="0">
              <a:buNone/>
            </a:pPr>
            <a:r>
              <a:rPr lang="fr-FR" altLang="en-US" sz="1500" dirty="0">
                <a:solidFill>
                  <a:schemeClr val="tx1"/>
                </a:solidFill>
              </a:rPr>
              <a:t>présent (+) ou absent (−), au-delà d'un seuil</a:t>
            </a:r>
            <a:endParaRPr lang="fr-FR" sz="1500" dirty="0"/>
          </a:p>
        </p:txBody>
      </p:sp>
      <p:sp>
        <p:nvSpPr>
          <p:cNvPr id="28" name="choix Événements discrets"/>
          <p:cNvSpPr/>
          <p:nvPr/>
        </p:nvSpPr>
        <p:spPr>
          <a:xfrm>
            <a:off x="3364992" y="4160520"/>
            <a:ext cx="2642616" cy="1783080"/>
          </a:xfrm>
          <a:prstGeom prst="roundRect">
            <a:avLst>
              <a:gd name="adj" fmla="val 4103"/>
            </a:avLst>
          </a:prstGeom>
          <a:solidFill>
            <a:schemeClr val="bg2"/>
          </a:solidFill>
          <a:ln/>
          <a:effectLst>
            <a:outerShdw sx="100000" sy="100000" kx="0" ky="0" algn="bl" rotWithShape="0" blurRad="76200" dist="25400" dir="5400000">
              <a:srgbClr val="1D2B36">
                <a:alpha val="12000"/>
              </a:srgbClr>
            </a:outerShdw>
          </a:effectLst>
        </p:spPr>
      </p:sp>
      <p:sp>
        <p:nvSpPr>
          <p:cNvPr id="29" name="pastille 2"/>
          <p:cNvSpPr/>
          <p:nvPr/>
        </p:nvSpPr>
        <p:spPr>
          <a:xfrm>
            <a:off x="3593592" y="4343400"/>
            <a:ext cx="457200" cy="457200"/>
          </a:xfrm>
          <a:prstGeom prst="ellipse">
            <a:avLst/>
          </a:prstGeom>
          <a:solidFill>
            <a:schemeClr val="accent1"/>
          </a:solidFill>
          <a:ln w="9525">
            <a:solidFill>
              <a:schemeClr val="accent1"/>
            </a:solidFill>
            <a:prstDash val="solid"/>
          </a:ln>
        </p:spPr>
      </p:sp>
      <p:sp>
        <p:nvSpPr>
          <p:cNvPr id="30" name="Text 28"/>
          <p:cNvSpPr txBox="1"/>
          <p:nvPr/>
        </p:nvSpPr>
        <p:spPr>
          <a:xfrm>
            <a:off x="3593592" y="4343400"/>
            <a:ext cx="457200" cy="457200"/>
          </a:xfrm>
          <a:prstGeom prst="rect">
            <a:avLst/>
          </a:prstGeom>
          <a:noFill/>
          <a:ln/>
        </p:spPr>
        <p:txBody>
          <a:bodyPr wrap="square" lIns="0" tIns="0" rIns="0" bIns="0" rtlCol="0" anchor="ctr"/>
          <a:lstStyle/>
          <a:p>
            <a:pPr algn="ctr" indent="0" marL="0">
              <a:buNone/>
            </a:pPr>
            <a:r>
              <a:rPr lang="fr-FR" altLang="en-US" sz="1600" b="1" dirty="0">
                <a:solidFill>
                  <a:schemeClr val="bg1"/>
                </a:solidFill>
              </a:rPr>
              <a:t>2</a:t>
            </a:r>
            <a:endParaRPr lang="fr-FR" sz="1600" dirty="0"/>
          </a:p>
        </p:txBody>
      </p:sp>
      <p:sp>
        <p:nvSpPr>
          <p:cNvPr id="31" name="Text 29"/>
          <p:cNvSpPr txBox="1"/>
          <p:nvPr/>
        </p:nvSpPr>
        <p:spPr>
          <a:xfrm>
            <a:off x="4187952" y="4389120"/>
            <a:ext cx="1737360" cy="411480"/>
          </a:xfrm>
          <a:prstGeom prst="rect">
            <a:avLst/>
          </a:prstGeom>
          <a:noFill/>
          <a:ln/>
        </p:spPr>
        <p:txBody>
          <a:bodyPr wrap="square" lIns="0" tIns="0" rIns="0" bIns="0" rtlCol="0" anchor="ctr"/>
          <a:lstStyle/>
          <a:p>
            <a:pPr indent="0" marL="0">
              <a:buNone/>
            </a:pPr>
            <a:r>
              <a:rPr lang="fr-FR" altLang="en-US" sz="1700" b="1" dirty="0">
                <a:solidFill>
                  <a:schemeClr val="tx1"/>
                </a:solidFill>
              </a:rPr>
              <a:t>Événements discrets</a:t>
            </a:r>
            <a:endParaRPr lang="fr-FR" sz="1700" dirty="0"/>
          </a:p>
        </p:txBody>
      </p:sp>
      <p:sp>
        <p:nvSpPr>
          <p:cNvPr id="32" name="Text 30"/>
          <p:cNvSpPr txBox="1"/>
          <p:nvPr/>
        </p:nvSpPr>
        <p:spPr>
          <a:xfrm>
            <a:off x="3639312" y="4983480"/>
            <a:ext cx="2194560" cy="822960"/>
          </a:xfrm>
          <a:prstGeom prst="rect">
            <a:avLst/>
          </a:prstGeom>
          <a:noFill/>
          <a:ln/>
        </p:spPr>
        <p:txBody>
          <a:bodyPr wrap="square" lIns="0" tIns="0" rIns="0" bIns="0" rtlCol="0" anchor="t"/>
          <a:lstStyle/>
          <a:p>
            <a:pPr indent="0" marL="0">
              <a:buNone/>
            </a:pPr>
            <a:r>
              <a:rPr lang="fr-FR" altLang="en-US" sz="1500" dirty="0">
                <a:solidFill>
                  <a:schemeClr val="tx1"/>
                </a:solidFill>
              </a:rPr>
              <a:t>pas d'horloge globale</a:t>
            </a:r>
            <a:endParaRPr lang="fr-FR" sz="1500" dirty="0"/>
          </a:p>
        </p:txBody>
      </p:sp>
      <p:sp>
        <p:nvSpPr>
          <p:cNvPr id="33" name="choix Asynchrone"/>
          <p:cNvSpPr/>
          <p:nvPr/>
        </p:nvSpPr>
        <p:spPr>
          <a:xfrm>
            <a:off x="6181344" y="4160520"/>
            <a:ext cx="2642616" cy="1783080"/>
          </a:xfrm>
          <a:prstGeom prst="roundRect">
            <a:avLst>
              <a:gd name="adj" fmla="val 4103"/>
            </a:avLst>
          </a:prstGeom>
          <a:solidFill>
            <a:schemeClr val="bg2"/>
          </a:solidFill>
          <a:ln/>
          <a:effectLst>
            <a:outerShdw sx="100000" sy="100000" kx="0" ky="0" algn="bl" rotWithShape="0" blurRad="76200" dist="25400" dir="5400000">
              <a:srgbClr val="1D2B36">
                <a:alpha val="12000"/>
              </a:srgbClr>
            </a:outerShdw>
          </a:effectLst>
        </p:spPr>
      </p:sp>
      <p:sp>
        <p:nvSpPr>
          <p:cNvPr id="34" name="pastille 3"/>
          <p:cNvSpPr/>
          <p:nvPr/>
        </p:nvSpPr>
        <p:spPr>
          <a:xfrm>
            <a:off x="6409944" y="4343400"/>
            <a:ext cx="457200" cy="457200"/>
          </a:xfrm>
          <a:prstGeom prst="ellipse">
            <a:avLst/>
          </a:prstGeom>
          <a:solidFill>
            <a:schemeClr val="accent1"/>
          </a:solidFill>
          <a:ln w="9525">
            <a:solidFill>
              <a:schemeClr val="accent1"/>
            </a:solidFill>
            <a:prstDash val="solid"/>
          </a:ln>
        </p:spPr>
      </p:sp>
      <p:sp>
        <p:nvSpPr>
          <p:cNvPr id="35" name="Text 33"/>
          <p:cNvSpPr txBox="1"/>
          <p:nvPr/>
        </p:nvSpPr>
        <p:spPr>
          <a:xfrm>
            <a:off x="6409944" y="4343400"/>
            <a:ext cx="457200" cy="457200"/>
          </a:xfrm>
          <a:prstGeom prst="rect">
            <a:avLst/>
          </a:prstGeom>
          <a:noFill/>
          <a:ln/>
        </p:spPr>
        <p:txBody>
          <a:bodyPr wrap="square" lIns="0" tIns="0" rIns="0" bIns="0" rtlCol="0" anchor="ctr"/>
          <a:lstStyle/>
          <a:p>
            <a:pPr algn="ctr" indent="0" marL="0">
              <a:buNone/>
            </a:pPr>
            <a:r>
              <a:rPr lang="fr-FR" altLang="en-US" sz="1600" b="1" dirty="0">
                <a:solidFill>
                  <a:schemeClr val="bg1"/>
                </a:solidFill>
              </a:rPr>
              <a:t>3</a:t>
            </a:r>
            <a:endParaRPr lang="fr-FR" sz="1600" dirty="0"/>
          </a:p>
        </p:txBody>
      </p:sp>
      <p:sp>
        <p:nvSpPr>
          <p:cNvPr id="36" name="Text 34"/>
          <p:cNvSpPr txBox="1"/>
          <p:nvPr/>
        </p:nvSpPr>
        <p:spPr>
          <a:xfrm>
            <a:off x="7004304" y="4389120"/>
            <a:ext cx="1737360" cy="411480"/>
          </a:xfrm>
          <a:prstGeom prst="rect">
            <a:avLst/>
          </a:prstGeom>
          <a:noFill/>
          <a:ln/>
        </p:spPr>
        <p:txBody>
          <a:bodyPr wrap="square" lIns="0" tIns="0" rIns="0" bIns="0" rtlCol="0" anchor="ctr"/>
          <a:lstStyle/>
          <a:p>
            <a:pPr indent="0" marL="0">
              <a:buNone/>
            </a:pPr>
            <a:r>
              <a:rPr lang="fr-FR" altLang="en-US" sz="1700" b="1" dirty="0">
                <a:solidFill>
                  <a:schemeClr val="tx1"/>
                </a:solidFill>
              </a:rPr>
              <a:t>Asynchrone</a:t>
            </a:r>
            <a:endParaRPr lang="fr-FR" sz="1700" dirty="0"/>
          </a:p>
        </p:txBody>
      </p:sp>
      <p:sp>
        <p:nvSpPr>
          <p:cNvPr id="37" name="Text 35"/>
          <p:cNvSpPr txBox="1"/>
          <p:nvPr/>
        </p:nvSpPr>
        <p:spPr>
          <a:xfrm>
            <a:off x="6455664" y="4983480"/>
            <a:ext cx="2194560" cy="822960"/>
          </a:xfrm>
          <a:prstGeom prst="rect">
            <a:avLst/>
          </a:prstGeom>
          <a:noFill/>
          <a:ln/>
        </p:spPr>
        <p:txBody>
          <a:bodyPr wrap="square" lIns="0" tIns="0" rIns="0" bIns="0" rtlCol="0" anchor="t"/>
          <a:lstStyle/>
          <a:p>
            <a:pPr indent="0" marL="0">
              <a:buNone/>
            </a:pPr>
            <a:r>
              <a:rPr lang="fr-FR" altLang="en-US" sz="1500" dirty="0">
                <a:solidFill>
                  <a:schemeClr val="tx1"/>
                </a:solidFill>
              </a:rPr>
              <a:t>une seule règle à la fois</a:t>
            </a:r>
            <a:endParaRPr lang="fr-FR" sz="1500" dirty="0"/>
          </a:p>
        </p:txBody>
      </p:sp>
      <p:sp>
        <p:nvSpPr>
          <p:cNvPr id="38" name="choix Possibiliste"/>
          <p:cNvSpPr/>
          <p:nvPr/>
        </p:nvSpPr>
        <p:spPr>
          <a:xfrm>
            <a:off x="8997696" y="4160520"/>
            <a:ext cx="2642616" cy="1783080"/>
          </a:xfrm>
          <a:prstGeom prst="roundRect">
            <a:avLst>
              <a:gd name="adj" fmla="val 4103"/>
            </a:avLst>
          </a:prstGeom>
          <a:solidFill>
            <a:schemeClr val="bg2"/>
          </a:solidFill>
          <a:ln/>
          <a:effectLst>
            <a:outerShdw sx="100000" sy="100000" kx="0" ky="0" algn="bl" rotWithShape="0" blurRad="76200" dist="25400" dir="5400000">
              <a:srgbClr val="1D2B36">
                <a:alpha val="12000"/>
              </a:srgbClr>
            </a:outerShdw>
          </a:effectLst>
        </p:spPr>
      </p:sp>
      <p:sp>
        <p:nvSpPr>
          <p:cNvPr id="39" name="pastille 4"/>
          <p:cNvSpPr/>
          <p:nvPr/>
        </p:nvSpPr>
        <p:spPr>
          <a:xfrm>
            <a:off x="9226296" y="4343400"/>
            <a:ext cx="457200" cy="457200"/>
          </a:xfrm>
          <a:prstGeom prst="ellipse">
            <a:avLst/>
          </a:prstGeom>
          <a:solidFill>
            <a:schemeClr val="accent1"/>
          </a:solidFill>
          <a:ln w="9525">
            <a:solidFill>
              <a:schemeClr val="accent1"/>
            </a:solidFill>
            <a:prstDash val="solid"/>
          </a:ln>
        </p:spPr>
      </p:sp>
      <p:sp>
        <p:nvSpPr>
          <p:cNvPr id="40" name="Text 38"/>
          <p:cNvSpPr txBox="1"/>
          <p:nvPr/>
        </p:nvSpPr>
        <p:spPr>
          <a:xfrm>
            <a:off x="9226296" y="4343400"/>
            <a:ext cx="457200" cy="457200"/>
          </a:xfrm>
          <a:prstGeom prst="rect">
            <a:avLst/>
          </a:prstGeom>
          <a:noFill/>
          <a:ln/>
        </p:spPr>
        <p:txBody>
          <a:bodyPr wrap="square" lIns="0" tIns="0" rIns="0" bIns="0" rtlCol="0" anchor="ctr"/>
          <a:lstStyle/>
          <a:p>
            <a:pPr algn="ctr" indent="0" marL="0">
              <a:buNone/>
            </a:pPr>
            <a:r>
              <a:rPr lang="fr-FR" altLang="en-US" sz="1600" b="1" dirty="0">
                <a:solidFill>
                  <a:schemeClr val="bg1"/>
                </a:solidFill>
              </a:rPr>
              <a:t>4</a:t>
            </a:r>
            <a:endParaRPr lang="fr-FR" sz="1600" dirty="0"/>
          </a:p>
        </p:txBody>
      </p:sp>
      <p:sp>
        <p:nvSpPr>
          <p:cNvPr id="41" name="Text 39"/>
          <p:cNvSpPr txBox="1"/>
          <p:nvPr/>
        </p:nvSpPr>
        <p:spPr>
          <a:xfrm>
            <a:off x="9820656" y="4389120"/>
            <a:ext cx="1737360" cy="411480"/>
          </a:xfrm>
          <a:prstGeom prst="rect">
            <a:avLst/>
          </a:prstGeom>
          <a:noFill/>
          <a:ln/>
        </p:spPr>
        <p:txBody>
          <a:bodyPr wrap="square" lIns="0" tIns="0" rIns="0" bIns="0" rtlCol="0" anchor="ctr"/>
          <a:lstStyle/>
          <a:p>
            <a:pPr indent="0" marL="0">
              <a:buNone/>
            </a:pPr>
            <a:r>
              <a:rPr lang="fr-FR" altLang="en-US" sz="1700" b="1" dirty="0">
                <a:solidFill>
                  <a:schemeClr val="tx1"/>
                </a:solidFill>
              </a:rPr>
              <a:t>Possibiliste</a:t>
            </a:r>
            <a:endParaRPr lang="fr-FR" sz="1700" dirty="0"/>
          </a:p>
        </p:txBody>
      </p:sp>
      <p:sp>
        <p:nvSpPr>
          <p:cNvPr id="42" name="Text 40"/>
          <p:cNvSpPr txBox="1"/>
          <p:nvPr/>
        </p:nvSpPr>
        <p:spPr>
          <a:xfrm>
            <a:off x="9272016" y="4983480"/>
            <a:ext cx="2194560" cy="822960"/>
          </a:xfrm>
          <a:prstGeom prst="rect">
            <a:avLst/>
          </a:prstGeom>
          <a:noFill/>
          <a:ln/>
        </p:spPr>
        <p:txBody>
          <a:bodyPr wrap="square" lIns="0" tIns="0" rIns="0" bIns="0" rtlCol="0" anchor="t"/>
          <a:lstStyle/>
          <a:p>
            <a:pPr indent="0" marL="0">
              <a:buNone/>
            </a:pPr>
            <a:r>
              <a:rPr lang="fr-FR" altLang="en-US" sz="1500" dirty="0">
                <a:solidFill>
                  <a:schemeClr val="tx1"/>
                </a:solidFill>
              </a:rPr>
              <a:t>toutes les trajectoires, sans probabilités</a:t>
            </a:r>
            <a:endParaRPr lang="fr-FR"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Des règles au graphe d'états</a:t>
            </a:r>
            <a:endParaRPr lang="fr-FR" sz="3000" dirty="0"/>
          </a:p>
        </p:txBody>
      </p:sp>
      <p:sp>
        <p:nvSpPr>
          <p:cNvPr id="3" name="fichier APT.rr"/>
          <p:cNvSpPr/>
          <p:nvPr/>
        </p:nvSpPr>
        <p:spPr>
          <a:xfrm>
            <a:off x="548640" y="1417320"/>
            <a:ext cx="5120640" cy="3840480"/>
          </a:xfrm>
          <a:prstGeom prst="roundRect">
            <a:avLst>
              <a:gd name="adj" fmla="val 1905"/>
            </a:avLst>
          </a:prstGeom>
          <a:solidFill>
            <a:schemeClr val="tx1"/>
          </a:solidFill>
          <a:ln/>
          <a:effectLst>
            <a:outerShdw sx="100000" sy="100000" kx="0" ky="0" algn="bl" rotWithShape="0" blurRad="76200" dist="25400" dir="5400000">
              <a:srgbClr val="1D2B36">
                <a:alpha val="12000"/>
              </a:srgbClr>
            </a:outerShdw>
          </a:effectLst>
        </p:spPr>
      </p:sp>
      <p:sp>
        <p:nvSpPr>
          <p:cNvPr id="4" name="Text 2"/>
          <p:cNvSpPr txBox="1"/>
          <p:nvPr/>
        </p:nvSpPr>
        <p:spPr>
          <a:xfrm>
            <a:off x="868680" y="1691640"/>
            <a:ext cx="4572000" cy="3429000"/>
          </a:xfrm>
          <a:prstGeom prst="rect">
            <a:avLst/>
          </a:prstGeom>
          <a:noFill/>
          <a:ln/>
        </p:spPr>
        <p:txBody>
          <a:bodyPr wrap="square" lIns="0" tIns="0" rIns="0" bIns="0" rtlCol="0" anchor="t"/>
          <a:lstStyle/>
          <a:p>
            <a:pPr indent="0" marL="0">
              <a:lnSpc>
                <a:spcPct val="105000"/>
              </a:lnSpc>
              <a:buNone/>
            </a:pPr>
            <a:r>
              <a:rPr lang="fr-FR" altLang="en-US" sz="1800" dirty="0">
                <a:solidFill>
                  <a:schemeClr val="accent4"/>
                </a:solidFill>
                <a:latin typeface="Courier New" pitchFamily="34" charset="0"/>
                <a:ea typeface="Courier New" pitchFamily="34" charset="-122"/>
                <a:cs typeface="Courier New" pitchFamily="34" charset="-120"/>
              </a:rPr>
              <a:t>variables:</a:t>
            </a:r>
            <a:endParaRPr lang="fr-FR" sz="1800" dirty="0"/>
          </a:p>
          <a:p>
            <a:pPr indent="0" marL="0">
              <a:lnSpc>
                <a:spcPct val="105000"/>
              </a:lnSpc>
              <a:buNone/>
            </a:pPr>
            <a:r>
              <a:rPr lang="fr-FR" altLang="en-US" sz="1800" dirty="0">
                <a:solidFill>
                  <a:schemeClr val="bg1"/>
                </a:solidFill>
                <a:latin typeface="Courier New" pitchFamily="34" charset="0"/>
                <a:ea typeface="Courier New" pitchFamily="34" charset="-122"/>
                <a:cs typeface="Courier New" pitchFamily="34" charset="-120"/>
              </a:rPr>
              <a:t>    A+: Amoeba proteus</a:t>
            </a:r>
            <a:endParaRPr lang="fr-FR" sz="1800" dirty="0"/>
          </a:p>
          <a:p>
            <a:pPr indent="0" marL="0">
              <a:lnSpc>
                <a:spcPct val="105000"/>
              </a:lnSpc>
              <a:buNone/>
            </a:pPr>
            <a:r>
              <a:rPr lang="fr-FR" altLang="en-US" sz="1800" dirty="0">
                <a:solidFill>
                  <a:schemeClr val="bg1"/>
                </a:solidFill>
                <a:latin typeface="Courier New" pitchFamily="34" charset="0"/>
                <a:ea typeface="Courier New" pitchFamily="34" charset="-122"/>
                <a:cs typeface="Courier New" pitchFamily="34" charset="-120"/>
              </a:rPr>
              <a:t>    P+: Paramecium caudatum</a:t>
            </a:r>
            <a:endParaRPr lang="fr-FR" sz="1800" dirty="0"/>
          </a:p>
          <a:p>
            <a:pPr indent="0" marL="0">
              <a:lnSpc>
                <a:spcPct val="105000"/>
              </a:lnSpc>
              <a:buNone/>
            </a:pPr>
            <a:r>
              <a:rPr lang="fr-FR" altLang="en-US" sz="1800" dirty="0">
                <a:solidFill>
                  <a:schemeClr val="bg1"/>
                </a:solidFill>
                <a:latin typeface="Courier New" pitchFamily="34" charset="0"/>
                <a:ea typeface="Courier New" pitchFamily="34" charset="-122"/>
                <a:cs typeface="Courier New" pitchFamily="34" charset="-120"/>
              </a:rPr>
              <a:t>    T+: Tetrahymena pyriformis</a:t>
            </a:r>
            <a:endParaRPr lang="fr-FR" sz="1800" dirty="0"/>
          </a:p>
          <a:p>
            <a:pPr indent="0" marL="0">
              <a:lnSpc>
                <a:spcPct val="105000"/>
              </a:lnSpc>
              <a:buNone/>
            </a:pPr>
            <a:r>
              <a:rPr lang="fr-FR" altLang="en-US" sz="1800" dirty="0">
                <a:solidFill>
                  <a:schemeClr val="bg1"/>
                </a:solidFill>
                <a:latin typeface="Courier New" pitchFamily="34" charset="0"/>
                <a:ea typeface="Courier New" pitchFamily="34" charset="-122"/>
                <a:cs typeface="Courier New" pitchFamily="34" charset="-120"/>
              </a:rPr>
              <a:t> </a:t>
            </a:r>
            <a:endParaRPr lang="fr-FR" sz="1800" dirty="0"/>
          </a:p>
          <a:p>
            <a:pPr indent="0" marL="0">
              <a:lnSpc>
                <a:spcPct val="105000"/>
              </a:lnSpc>
              <a:buNone/>
            </a:pPr>
            <a:r>
              <a:rPr lang="fr-FR" altLang="en-US" sz="1800" dirty="0">
                <a:solidFill>
                  <a:schemeClr val="accent4"/>
                </a:solidFill>
                <a:latin typeface="Courier New" pitchFamily="34" charset="0"/>
                <a:ea typeface="Courier New" pitchFamily="34" charset="-122"/>
                <a:cs typeface="Courier New" pitchFamily="34" charset="-120"/>
              </a:rPr>
              <a:t>rules:</a:t>
            </a:r>
            <a:endParaRPr lang="fr-FR" sz="1800" dirty="0"/>
          </a:p>
          <a:p>
            <a:pPr indent="0" marL="0">
              <a:lnSpc>
                <a:spcPct val="105000"/>
              </a:lnSpc>
              <a:buNone/>
            </a:pPr>
            <a:r>
              <a:rPr lang="fr-FR" altLang="en-US" sz="1800" dirty="0">
                <a:solidFill>
                  <a:schemeClr val="accent3"/>
                </a:solidFill>
                <a:latin typeface="Courier New" pitchFamily="34" charset="0"/>
                <a:ea typeface="Courier New" pitchFamily="34" charset="-122"/>
                <a:cs typeface="Courier New" pitchFamily="34" charset="-120"/>
              </a:rPr>
              <a:t>    [R1] A+ &gt;&gt; P-</a:t>
            </a:r>
            <a:endParaRPr lang="fr-FR" sz="1800" dirty="0"/>
          </a:p>
          <a:p>
            <a:pPr indent="0" marL="0">
              <a:lnSpc>
                <a:spcPct val="105000"/>
              </a:lnSpc>
              <a:buNone/>
            </a:pPr>
            <a:r>
              <a:rPr lang="fr-FR" altLang="en-US" sz="1800" dirty="0">
                <a:solidFill>
                  <a:schemeClr val="accent3"/>
                </a:solidFill>
                <a:latin typeface="Courier New" pitchFamily="34" charset="0"/>
                <a:ea typeface="Courier New" pitchFamily="34" charset="-122"/>
                <a:cs typeface="Courier New" pitchFamily="34" charset="-120"/>
              </a:rPr>
              <a:t>    [R2] A+ &gt;&gt; T-</a:t>
            </a:r>
            <a:endParaRPr lang="fr-FR" sz="1800" dirty="0"/>
          </a:p>
          <a:p>
            <a:pPr indent="0" marL="0">
              <a:lnSpc>
                <a:spcPct val="105000"/>
              </a:lnSpc>
              <a:buNone/>
            </a:pPr>
            <a:r>
              <a:rPr lang="fr-FR" altLang="en-US" sz="1800" dirty="0">
                <a:solidFill>
                  <a:schemeClr val="accent3"/>
                </a:solidFill>
                <a:latin typeface="Courier New" pitchFamily="34" charset="0"/>
                <a:ea typeface="Courier New" pitchFamily="34" charset="-122"/>
                <a:cs typeface="Courier New" pitchFamily="34" charset="-120"/>
              </a:rPr>
              <a:t>    [R3] P+ &gt;&gt; T-</a:t>
            </a:r>
            <a:endParaRPr lang="fr-FR" sz="1800" dirty="0"/>
          </a:p>
          <a:p>
            <a:pPr indent="0" marL="0">
              <a:lnSpc>
                <a:spcPct val="105000"/>
              </a:lnSpc>
              <a:buNone/>
            </a:pPr>
            <a:r>
              <a:rPr lang="fr-FR" altLang="en-US" sz="1800" dirty="0">
                <a:solidFill>
                  <a:schemeClr val="accent3"/>
                </a:solidFill>
                <a:latin typeface="Courier New" pitchFamily="34" charset="0"/>
                <a:ea typeface="Courier New" pitchFamily="34" charset="-122"/>
                <a:cs typeface="Courier New" pitchFamily="34" charset="-120"/>
              </a:rPr>
              <a:t>    [R4] P- &gt;&gt; A-</a:t>
            </a:r>
            <a:endParaRPr lang="fr-FR" sz="1800" dirty="0"/>
          </a:p>
        </p:txBody>
      </p:sp>
      <p:sp>
        <p:nvSpPr>
          <p:cNvPr id="5" name="Text 3"/>
          <p:cNvSpPr txBox="1"/>
          <p:nvPr/>
        </p:nvSpPr>
        <p:spPr>
          <a:xfrm>
            <a:off x="548640" y="5394960"/>
            <a:ext cx="5120640" cy="320040"/>
          </a:xfrm>
          <a:prstGeom prst="rect">
            <a:avLst/>
          </a:prstGeom>
          <a:noFill/>
          <a:ln/>
        </p:spPr>
        <p:txBody>
          <a:bodyPr wrap="square" lIns="0" tIns="0" rIns="0" bIns="0" rtlCol="0" anchor="t"/>
          <a:lstStyle/>
          <a:p>
            <a:pPr indent="0" marL="0">
              <a:buNone/>
            </a:pPr>
            <a:r>
              <a:rPr lang="fr-FR" altLang="en-US" sz="1200" dirty="0">
                <a:solidFill>
                  <a:schemeClr val="accent6"/>
                </a:solidFill>
              </a:rPr>
              <a:t>modeles/APT.rr : le fichier lu par ecco</a:t>
            </a:r>
            <a:endParaRPr lang="fr-FR" sz="1200" dirty="0"/>
          </a:p>
        </p:txBody>
      </p:sp>
      <p:sp>
        <p:nvSpPr>
          <p:cNvPr id="6" name="pastille 1"/>
          <p:cNvSpPr/>
          <p:nvPr/>
        </p:nvSpPr>
        <p:spPr>
          <a:xfrm>
            <a:off x="6126480" y="1536192"/>
            <a:ext cx="548640" cy="548640"/>
          </a:xfrm>
          <a:prstGeom prst="ellipse">
            <a:avLst/>
          </a:prstGeom>
          <a:solidFill>
            <a:schemeClr val="tx1"/>
          </a:solidFill>
          <a:ln w="9525">
            <a:solidFill>
              <a:schemeClr val="tx1"/>
            </a:solidFill>
            <a:prstDash val="solid"/>
          </a:ln>
        </p:spPr>
      </p:sp>
      <p:sp>
        <p:nvSpPr>
          <p:cNvPr id="7" name="Text 5"/>
          <p:cNvSpPr txBox="1"/>
          <p:nvPr/>
        </p:nvSpPr>
        <p:spPr>
          <a:xfrm>
            <a:off x="6126480" y="1536192"/>
            <a:ext cx="548640" cy="548640"/>
          </a:xfrm>
          <a:prstGeom prst="rect">
            <a:avLst/>
          </a:prstGeom>
          <a:noFill/>
          <a:ln/>
        </p:spPr>
        <p:txBody>
          <a:bodyPr wrap="square" lIns="0" tIns="0" rIns="0" bIns="0" rtlCol="0" anchor="ctr"/>
          <a:lstStyle/>
          <a:p>
            <a:pPr algn="ctr" indent="0" marL="0">
              <a:buNone/>
            </a:pPr>
            <a:r>
              <a:rPr lang="fr-FR" altLang="en-US" sz="1800" b="1" dirty="0">
                <a:solidFill>
                  <a:schemeClr val="bg1"/>
                </a:solidFill>
              </a:rPr>
              <a:t>1</a:t>
            </a:r>
            <a:endParaRPr lang="fr-FR" sz="1800" dirty="0"/>
          </a:p>
        </p:txBody>
      </p:sp>
      <p:sp>
        <p:nvSpPr>
          <p:cNvPr id="8" name="Text 6"/>
          <p:cNvSpPr txBox="1"/>
          <p:nvPr/>
        </p:nvSpPr>
        <p:spPr>
          <a:xfrm>
            <a:off x="6949440" y="1463040"/>
            <a:ext cx="4663440" cy="365760"/>
          </a:xfrm>
          <a:prstGeom prst="rect">
            <a:avLst/>
          </a:prstGeom>
          <a:noFill/>
          <a:ln/>
        </p:spPr>
        <p:txBody>
          <a:bodyPr wrap="square" lIns="0" tIns="0" rIns="0" bIns="0" rtlCol="0" anchor="t"/>
          <a:lstStyle/>
          <a:p>
            <a:pPr indent="0" marL="0">
              <a:buNone/>
            </a:pPr>
            <a:r>
              <a:rPr lang="fr-FR" altLang="en-US" sz="1800" b="1" dirty="0">
                <a:solidFill>
                  <a:schemeClr val="tx1"/>
                </a:solidFill>
              </a:rPr>
              <a:t>Règle applicable</a:t>
            </a:r>
            <a:endParaRPr lang="fr-FR" sz="1800" dirty="0"/>
          </a:p>
        </p:txBody>
      </p:sp>
      <p:sp>
        <p:nvSpPr>
          <p:cNvPr id="9" name="Text 7"/>
          <p:cNvSpPr txBox="1"/>
          <p:nvPr/>
        </p:nvSpPr>
        <p:spPr>
          <a:xfrm>
            <a:off x="6949440" y="1828800"/>
            <a:ext cx="4663440" cy="502920"/>
          </a:xfrm>
          <a:prstGeom prst="rect">
            <a:avLst/>
          </a:prstGeom>
          <a:noFill/>
          <a:ln/>
        </p:spPr>
        <p:txBody>
          <a:bodyPr wrap="square" lIns="0" tIns="0" rIns="0" bIns="0" rtlCol="0" anchor="t"/>
          <a:lstStyle/>
          <a:p>
            <a:pPr indent="0" marL="0">
              <a:buNone/>
            </a:pPr>
            <a:r>
              <a:rPr lang="fr-FR" altLang="en-US" sz="1500" dirty="0">
                <a:solidFill>
                  <a:schemeClr val="tx1"/>
                </a:solidFill>
              </a:rPr>
              <a:t>sa condition est vraie et son effet change l'état</a:t>
            </a:r>
            <a:endParaRPr lang="fr-FR" sz="1500" dirty="0"/>
          </a:p>
        </p:txBody>
      </p:sp>
      <p:sp>
        <p:nvSpPr>
          <p:cNvPr id="10" name="pastille 2"/>
          <p:cNvSpPr/>
          <p:nvPr/>
        </p:nvSpPr>
        <p:spPr>
          <a:xfrm>
            <a:off x="6126480" y="2496312"/>
            <a:ext cx="548640" cy="548640"/>
          </a:xfrm>
          <a:prstGeom prst="ellipse">
            <a:avLst/>
          </a:prstGeom>
          <a:solidFill>
            <a:schemeClr val="accent1"/>
          </a:solidFill>
          <a:ln w="9525">
            <a:solidFill>
              <a:schemeClr val="accent1"/>
            </a:solidFill>
            <a:prstDash val="solid"/>
          </a:ln>
        </p:spPr>
      </p:sp>
      <p:sp>
        <p:nvSpPr>
          <p:cNvPr id="11" name="Text 9"/>
          <p:cNvSpPr txBox="1"/>
          <p:nvPr/>
        </p:nvSpPr>
        <p:spPr>
          <a:xfrm>
            <a:off x="6126480" y="2496312"/>
            <a:ext cx="548640" cy="548640"/>
          </a:xfrm>
          <a:prstGeom prst="rect">
            <a:avLst/>
          </a:prstGeom>
          <a:noFill/>
          <a:ln/>
        </p:spPr>
        <p:txBody>
          <a:bodyPr wrap="square" lIns="0" tIns="0" rIns="0" bIns="0" rtlCol="0" anchor="ctr"/>
          <a:lstStyle/>
          <a:p>
            <a:pPr algn="ctr" indent="0" marL="0">
              <a:buNone/>
            </a:pPr>
            <a:r>
              <a:rPr lang="fr-FR" altLang="en-US" sz="1800" b="1" dirty="0">
                <a:solidFill>
                  <a:schemeClr val="bg1"/>
                </a:solidFill>
              </a:rPr>
              <a:t>2</a:t>
            </a:r>
            <a:endParaRPr lang="fr-FR" sz="1800" dirty="0"/>
          </a:p>
        </p:txBody>
      </p:sp>
      <p:sp>
        <p:nvSpPr>
          <p:cNvPr id="12" name="Text 10"/>
          <p:cNvSpPr txBox="1"/>
          <p:nvPr/>
        </p:nvSpPr>
        <p:spPr>
          <a:xfrm>
            <a:off x="6949440" y="2423160"/>
            <a:ext cx="4663440" cy="365760"/>
          </a:xfrm>
          <a:prstGeom prst="rect">
            <a:avLst/>
          </a:prstGeom>
          <a:noFill/>
          <a:ln/>
        </p:spPr>
        <p:txBody>
          <a:bodyPr wrap="square" lIns="0" tIns="0" rIns="0" bIns="0" rtlCol="0" anchor="t"/>
          <a:lstStyle/>
          <a:p>
            <a:pPr indent="0" marL="0">
              <a:buNone/>
            </a:pPr>
            <a:r>
              <a:rPr lang="fr-FR" altLang="en-US" sz="1800" b="1" dirty="0">
                <a:solidFill>
                  <a:schemeClr val="tx1"/>
                </a:solidFill>
              </a:rPr>
              <a:t>Asynchrone (EDEN, ecco)</a:t>
            </a:r>
            <a:endParaRPr lang="fr-FR" sz="1800" dirty="0"/>
          </a:p>
        </p:txBody>
      </p:sp>
      <p:sp>
        <p:nvSpPr>
          <p:cNvPr id="13" name="Text 11"/>
          <p:cNvSpPr txBox="1"/>
          <p:nvPr/>
        </p:nvSpPr>
        <p:spPr>
          <a:xfrm>
            <a:off x="6949440" y="2788920"/>
            <a:ext cx="4663440" cy="502920"/>
          </a:xfrm>
          <a:prstGeom prst="rect">
            <a:avLst/>
          </a:prstGeom>
          <a:noFill/>
          <a:ln/>
        </p:spPr>
        <p:txBody>
          <a:bodyPr wrap="square" lIns="0" tIns="0" rIns="0" bIns="0" rtlCol="0" anchor="t"/>
          <a:lstStyle/>
          <a:p>
            <a:pPr indent="0" marL="0">
              <a:buNone/>
            </a:pPr>
            <a:r>
              <a:rPr lang="fr-FR" altLang="en-US" sz="1500" dirty="0">
                <a:solidFill>
                  <a:schemeClr val="tx1"/>
                </a:solidFill>
              </a:rPr>
              <a:t>une seule règle à la fois, n'importe laquelle : plusieurs trajectoires</a:t>
            </a:r>
            <a:endParaRPr lang="fr-FR" sz="1500" dirty="0"/>
          </a:p>
        </p:txBody>
      </p:sp>
      <p:sp>
        <p:nvSpPr>
          <p:cNvPr id="14" name="pastille 3"/>
          <p:cNvSpPr/>
          <p:nvPr/>
        </p:nvSpPr>
        <p:spPr>
          <a:xfrm>
            <a:off x="6126480" y="3456432"/>
            <a:ext cx="548640" cy="548640"/>
          </a:xfrm>
          <a:prstGeom prst="ellipse">
            <a:avLst/>
          </a:prstGeom>
          <a:solidFill>
            <a:schemeClr val="accent2"/>
          </a:solidFill>
          <a:ln w="9525">
            <a:solidFill>
              <a:schemeClr val="accent2"/>
            </a:solidFill>
            <a:prstDash val="solid"/>
          </a:ln>
        </p:spPr>
      </p:sp>
      <p:sp>
        <p:nvSpPr>
          <p:cNvPr id="15" name="Text 13"/>
          <p:cNvSpPr txBox="1"/>
          <p:nvPr/>
        </p:nvSpPr>
        <p:spPr>
          <a:xfrm>
            <a:off x="6126480" y="3456432"/>
            <a:ext cx="548640" cy="548640"/>
          </a:xfrm>
          <a:prstGeom prst="rect">
            <a:avLst/>
          </a:prstGeom>
          <a:noFill/>
          <a:ln/>
        </p:spPr>
        <p:txBody>
          <a:bodyPr wrap="square" lIns="0" tIns="0" rIns="0" bIns="0" rtlCol="0" anchor="ctr"/>
          <a:lstStyle/>
          <a:p>
            <a:pPr algn="ctr" indent="0" marL="0">
              <a:buNone/>
            </a:pPr>
            <a:r>
              <a:rPr lang="fr-FR" altLang="en-US" sz="1800" b="1" dirty="0">
                <a:solidFill>
                  <a:schemeClr val="bg1"/>
                </a:solidFill>
              </a:rPr>
              <a:t>3</a:t>
            </a:r>
            <a:endParaRPr lang="fr-FR" sz="1800" dirty="0"/>
          </a:p>
        </p:txBody>
      </p:sp>
      <p:sp>
        <p:nvSpPr>
          <p:cNvPr id="16" name="Text 14"/>
          <p:cNvSpPr txBox="1"/>
          <p:nvPr/>
        </p:nvSpPr>
        <p:spPr>
          <a:xfrm>
            <a:off x="6949440" y="3383280"/>
            <a:ext cx="4663440" cy="365760"/>
          </a:xfrm>
          <a:prstGeom prst="rect">
            <a:avLst/>
          </a:prstGeom>
          <a:noFill/>
          <a:ln/>
        </p:spPr>
        <p:txBody>
          <a:bodyPr wrap="square" lIns="0" tIns="0" rIns="0" bIns="0" rtlCol="0" anchor="t"/>
          <a:lstStyle/>
          <a:p>
            <a:pPr indent="0" marL="0">
              <a:buNone/>
            </a:pPr>
            <a:r>
              <a:rPr lang="fr-FR" altLang="en-US" sz="1800" b="1" dirty="0">
                <a:solidFill>
                  <a:schemeClr val="tx1"/>
                </a:solidFill>
              </a:rPr>
              <a:t>Synchrone</a:t>
            </a:r>
            <a:endParaRPr lang="fr-FR" sz="1800" dirty="0"/>
          </a:p>
        </p:txBody>
      </p:sp>
      <p:sp>
        <p:nvSpPr>
          <p:cNvPr id="17" name="Text 15"/>
          <p:cNvSpPr txBox="1"/>
          <p:nvPr/>
        </p:nvSpPr>
        <p:spPr>
          <a:xfrm>
            <a:off x="6949440" y="3749040"/>
            <a:ext cx="4663440" cy="502920"/>
          </a:xfrm>
          <a:prstGeom prst="rect">
            <a:avLst/>
          </a:prstGeom>
          <a:noFill/>
          <a:ln/>
        </p:spPr>
        <p:txBody>
          <a:bodyPr wrap="square" lIns="0" tIns="0" rIns="0" bIns="0" rtlCol="0" anchor="t"/>
          <a:lstStyle/>
          <a:p>
            <a:pPr indent="0" marL="0">
              <a:buNone/>
            </a:pPr>
            <a:r>
              <a:rPr lang="fr-FR" altLang="en-US" sz="1500" dirty="0">
                <a:solidFill>
                  <a:schemeClr val="tx1"/>
                </a:solidFill>
              </a:rPr>
              <a:t>toutes les règles applicables en même temps : une seule trajectoire</a:t>
            </a:r>
            <a:endParaRPr lang="fr-FR" sz="1500" dirty="0"/>
          </a:p>
        </p:txBody>
      </p:sp>
      <p:sp>
        <p:nvSpPr>
          <p:cNvPr id="18" name="pastille 4"/>
          <p:cNvSpPr/>
          <p:nvPr/>
        </p:nvSpPr>
        <p:spPr>
          <a:xfrm>
            <a:off x="6126480" y="4416552"/>
            <a:ext cx="548640" cy="548640"/>
          </a:xfrm>
          <a:prstGeom prst="ellipse">
            <a:avLst/>
          </a:prstGeom>
          <a:solidFill>
            <a:schemeClr val="bg1"/>
          </a:solidFill>
          <a:ln w="38100">
            <a:solidFill>
              <a:schemeClr val="tx1"/>
            </a:solidFill>
            <a:prstDash val="solid"/>
          </a:ln>
        </p:spPr>
      </p:sp>
      <p:sp>
        <p:nvSpPr>
          <p:cNvPr id="19" name="Text 17"/>
          <p:cNvSpPr txBox="1"/>
          <p:nvPr/>
        </p:nvSpPr>
        <p:spPr>
          <a:xfrm>
            <a:off x="6126480" y="4416552"/>
            <a:ext cx="548640" cy="548640"/>
          </a:xfrm>
          <a:prstGeom prst="rect">
            <a:avLst/>
          </a:prstGeom>
          <a:noFill/>
          <a:ln/>
        </p:spPr>
        <p:txBody>
          <a:bodyPr wrap="square" lIns="0" tIns="0" rIns="0" bIns="0" rtlCol="0" anchor="ctr"/>
          <a:lstStyle/>
          <a:p>
            <a:pPr algn="ctr" indent="0" marL="0">
              <a:buNone/>
            </a:pPr>
            <a:r>
              <a:rPr lang="fr-FR" altLang="en-US" sz="1800" b="1" dirty="0">
                <a:solidFill>
                  <a:schemeClr val="tx1"/>
                </a:solidFill>
              </a:rPr>
              <a:t>4</a:t>
            </a:r>
            <a:endParaRPr lang="fr-FR" sz="1800" dirty="0"/>
          </a:p>
        </p:txBody>
      </p:sp>
      <p:sp>
        <p:nvSpPr>
          <p:cNvPr id="20" name="Text 18"/>
          <p:cNvSpPr txBox="1"/>
          <p:nvPr/>
        </p:nvSpPr>
        <p:spPr>
          <a:xfrm>
            <a:off x="6949440" y="4343400"/>
            <a:ext cx="4663440" cy="365760"/>
          </a:xfrm>
          <a:prstGeom prst="rect">
            <a:avLst/>
          </a:prstGeom>
          <a:noFill/>
          <a:ln/>
        </p:spPr>
        <p:txBody>
          <a:bodyPr wrap="square" lIns="0" tIns="0" rIns="0" bIns="0" rtlCol="0" anchor="t"/>
          <a:lstStyle/>
          <a:p>
            <a:pPr indent="0" marL="0">
              <a:buNone/>
            </a:pPr>
            <a:r>
              <a:rPr lang="fr-FR" altLang="en-US" sz="1800" b="1" dirty="0">
                <a:solidFill>
                  <a:schemeClr val="tx1"/>
                </a:solidFill>
              </a:rPr>
              <a:t>État stable</a:t>
            </a:r>
            <a:endParaRPr lang="fr-FR" sz="1800" dirty="0"/>
          </a:p>
        </p:txBody>
      </p:sp>
      <p:sp>
        <p:nvSpPr>
          <p:cNvPr id="21" name="Text 19"/>
          <p:cNvSpPr txBox="1"/>
          <p:nvPr/>
        </p:nvSpPr>
        <p:spPr>
          <a:xfrm>
            <a:off x="6949440" y="4709160"/>
            <a:ext cx="4663440" cy="502920"/>
          </a:xfrm>
          <a:prstGeom prst="rect">
            <a:avLst/>
          </a:prstGeom>
          <a:noFill/>
          <a:ln/>
        </p:spPr>
        <p:txBody>
          <a:bodyPr wrap="square" lIns="0" tIns="0" rIns="0" bIns="0" rtlCol="0" anchor="t"/>
          <a:lstStyle/>
          <a:p>
            <a:pPr indent="0" marL="0">
              <a:buNone/>
            </a:pPr>
            <a:r>
              <a:rPr lang="fr-FR" altLang="en-US" sz="1500" dirty="0">
                <a:solidFill>
                  <a:schemeClr val="tx1"/>
                </a:solidFill>
              </a:rPr>
              <a:t>plus aucune règle applicable : la dynamique s'arrête</a:t>
            </a:r>
            <a:endParaRPr lang="fr-FR" sz="1500" dirty="0"/>
          </a:p>
        </p:txBody>
      </p:sp>
      <p:sp>
        <p:nvSpPr>
          <p:cNvPr id="22" name="Text 20"/>
          <p:cNvSpPr txBox="1"/>
          <p:nvPr/>
        </p:nvSpPr>
        <p:spPr>
          <a:xfrm>
            <a:off x="6126480" y="5349240"/>
            <a:ext cx="5486400" cy="411480"/>
          </a:xfrm>
          <a:prstGeom prst="rect">
            <a:avLst/>
          </a:prstGeom>
          <a:noFill/>
          <a:ln/>
        </p:spPr>
        <p:txBody>
          <a:bodyPr wrap="square" lIns="0" tIns="0" rIns="0" bIns="0" rtlCol="0" anchor="t"/>
          <a:lstStyle/>
          <a:p>
            <a:pPr indent="0" marL="0">
              <a:buNone/>
            </a:pPr>
            <a:r>
              <a:rPr lang="fr-FR" altLang="en-US" sz="1600" b="1" dirty="0">
                <a:solidFill>
                  <a:schemeClr val="tx1"/>
                </a:solidFill>
              </a:rPr>
              <a:t>Résultat : </a:t>
            </a:r>
            <a:pPr indent="0" marL="0">
              <a:buNone/>
            </a:pPr>
            <a:r>
              <a:rPr lang="fr-FR" altLang="en-US" sz="1600" dirty="0">
                <a:solidFill>
                  <a:schemeClr val="tx1"/>
                </a:solidFill>
              </a:rPr>
              <a:t>le graphe de transitions d'états. Nœuds = états, arcs = règles.</a:t>
            </a:r>
            <a:endParaRPr lang="fr-FR"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Figure 5 : le graphe d'états est retrouvé à l'identique</a:t>
            </a:r>
            <a:endParaRPr lang="fr-FR" sz="3000" dirty="0"/>
          </a:p>
        </p:txBody>
      </p:sp>
      <p:pic>
        <p:nvPicPr>
          <p:cNvPr id="3" name="Image 0" descr="Figure 5 reproduite : graphe d'interactions, règles R1 à R4 et graphe des 6 états accessibles depuis APT">    </p:cNvPr>
          <p:cNvPicPr>
            <a:picLocks noChangeAspect="1"/>
          </p:cNvPicPr>
          <p:nvPr/>
        </p:nvPicPr>
        <p:blipFill>
          <a:blip r:embed="rId1"/>
          <a:stretch>
            <a:fillRect/>
          </a:stretch>
        </p:blipFill>
        <p:spPr>
          <a:xfrm>
            <a:off x="548640" y="1371600"/>
            <a:ext cx="7589520" cy="4279280"/>
          </a:xfrm>
          <a:prstGeom prst="rect">
            <a:avLst/>
          </a:prstGeom>
        </p:spPr>
      </p:pic>
      <p:sp>
        <p:nvSpPr>
          <p:cNvPr id="4" name="Text 1"/>
          <p:cNvSpPr txBox="1"/>
          <p:nvPr/>
        </p:nvSpPr>
        <p:spPr>
          <a:xfrm>
            <a:off x="548640" y="5788040"/>
            <a:ext cx="7589520" cy="457200"/>
          </a:xfrm>
          <a:prstGeom prst="rect">
            <a:avLst/>
          </a:prstGeom>
          <a:noFill/>
          <a:ln/>
        </p:spPr>
        <p:txBody>
          <a:bodyPr wrap="square" lIns="0" tIns="0" rIns="0" bIns="0" rtlCol="0" anchor="t"/>
          <a:lstStyle/>
          <a:p>
            <a:pPr indent="0" marL="0">
              <a:buNone/>
            </a:pPr>
            <a:r>
              <a:rPr lang="fr-FR" altLang="en-US" sz="1100" dirty="0">
                <a:solidFill>
                  <a:schemeClr val="accent6"/>
                </a:solidFill>
              </a:rPr>
              <a:t>(c) : même graphe que celui affiché par ecco (notebook APT_asynchrone), avec le nom des états.</a:t>
            </a:r>
            <a:endParaRPr lang="fr-FR" sz="1100" dirty="0"/>
          </a:p>
        </p:txBody>
      </p:sp>
      <p:sp>
        <p:nvSpPr>
          <p:cNvPr id="5" name="Text 2"/>
          <p:cNvSpPr txBox="1"/>
          <p:nvPr/>
        </p:nvSpPr>
        <p:spPr>
          <a:xfrm>
            <a:off x="8503920" y="1463040"/>
            <a:ext cx="731520" cy="731520"/>
          </a:xfrm>
          <a:prstGeom prst="rect">
            <a:avLst/>
          </a:prstGeom>
          <a:noFill/>
          <a:ln/>
        </p:spPr>
        <p:txBody>
          <a:bodyPr wrap="square" lIns="0" tIns="0" rIns="0" bIns="0" rtlCol="0" anchor="ctr"/>
          <a:lstStyle/>
          <a:p>
            <a:pPr indent="0" marL="0">
              <a:buNone/>
            </a:pPr>
            <a:r>
              <a:rPr lang="fr-FR" altLang="en-US" sz="4400" b="1" dirty="0">
                <a:solidFill>
                  <a:schemeClr val="accent1"/>
                </a:solidFill>
                <a:latin typeface="+mj-lt" pitchFamily="34" charset="0"/>
                <a:ea typeface="+mj-lt" pitchFamily="34" charset="-122"/>
                <a:cs typeface="+mj-lt" pitchFamily="34" charset="-120"/>
              </a:rPr>
              <a:t>6</a:t>
            </a:r>
            <a:endParaRPr lang="fr-FR" sz="4400" dirty="0"/>
          </a:p>
        </p:txBody>
      </p:sp>
      <p:sp>
        <p:nvSpPr>
          <p:cNvPr id="6" name="Text 3"/>
          <p:cNvSpPr txBox="1"/>
          <p:nvPr/>
        </p:nvSpPr>
        <p:spPr>
          <a:xfrm>
            <a:off x="9281160" y="1463040"/>
            <a:ext cx="2377440" cy="731520"/>
          </a:xfrm>
          <a:prstGeom prst="rect">
            <a:avLst/>
          </a:prstGeom>
          <a:noFill/>
          <a:ln/>
        </p:spPr>
        <p:txBody>
          <a:bodyPr wrap="square" lIns="0" tIns="0" rIns="0" bIns="0" rtlCol="0" anchor="ctr"/>
          <a:lstStyle/>
          <a:p>
            <a:pPr indent="0" marL="0">
              <a:buNone/>
            </a:pPr>
            <a:r>
              <a:rPr lang="fr-FR" altLang="en-US" sz="1600" dirty="0">
                <a:solidFill>
                  <a:schemeClr val="tx1"/>
                </a:solidFill>
              </a:rPr>
              <a:t>états accessibles depuis {APT}</a:t>
            </a:r>
            <a:endParaRPr lang="fr-FR" sz="1600" dirty="0"/>
          </a:p>
        </p:txBody>
      </p:sp>
      <p:sp>
        <p:nvSpPr>
          <p:cNvPr id="7" name="Text 4"/>
          <p:cNvSpPr txBox="1"/>
          <p:nvPr/>
        </p:nvSpPr>
        <p:spPr>
          <a:xfrm>
            <a:off x="8503920" y="2331720"/>
            <a:ext cx="731520" cy="731520"/>
          </a:xfrm>
          <a:prstGeom prst="rect">
            <a:avLst/>
          </a:prstGeom>
          <a:noFill/>
          <a:ln/>
        </p:spPr>
        <p:txBody>
          <a:bodyPr wrap="square" lIns="0" tIns="0" rIns="0" bIns="0" rtlCol="0" anchor="ctr"/>
          <a:lstStyle/>
          <a:p>
            <a:pPr indent="0" marL="0">
              <a:buNone/>
            </a:pPr>
            <a:r>
              <a:rPr lang="fr-FR" altLang="en-US" sz="4400" b="1" dirty="0">
                <a:solidFill>
                  <a:schemeClr val="accent1"/>
                </a:solidFill>
                <a:latin typeface="+mj-lt" pitchFamily="34" charset="0"/>
                <a:ea typeface="+mj-lt" pitchFamily="34" charset="-122"/>
                <a:cs typeface="+mj-lt" pitchFamily="34" charset="-120"/>
              </a:rPr>
              <a:t>2</a:t>
            </a:r>
            <a:endParaRPr lang="fr-FR" sz="4400" dirty="0"/>
          </a:p>
        </p:txBody>
      </p:sp>
      <p:sp>
        <p:nvSpPr>
          <p:cNvPr id="8" name="Text 5"/>
          <p:cNvSpPr txBox="1"/>
          <p:nvPr/>
        </p:nvSpPr>
        <p:spPr>
          <a:xfrm>
            <a:off x="9281160" y="2331720"/>
            <a:ext cx="2377440" cy="731520"/>
          </a:xfrm>
          <a:prstGeom prst="rect">
            <a:avLst/>
          </a:prstGeom>
          <a:noFill/>
          <a:ln/>
        </p:spPr>
        <p:txBody>
          <a:bodyPr wrap="square" lIns="0" tIns="0" rIns="0" bIns="0" rtlCol="0" anchor="ctr"/>
          <a:lstStyle/>
          <a:p>
            <a:pPr indent="0" marL="0">
              <a:buNone/>
            </a:pPr>
            <a:r>
              <a:rPr lang="fr-FR" altLang="en-US" sz="1600" dirty="0">
                <a:solidFill>
                  <a:schemeClr val="tx1"/>
                </a:solidFill>
              </a:rPr>
              <a:t>états stables : {T} et ∅</a:t>
            </a:r>
            <a:endParaRPr lang="fr-FR" sz="1600" dirty="0"/>
          </a:p>
        </p:txBody>
      </p:sp>
      <p:sp>
        <p:nvSpPr>
          <p:cNvPr id="9" name="Text 6"/>
          <p:cNvSpPr txBox="1"/>
          <p:nvPr/>
        </p:nvSpPr>
        <p:spPr>
          <a:xfrm>
            <a:off x="8503920" y="3200400"/>
            <a:ext cx="731520" cy="731520"/>
          </a:xfrm>
          <a:prstGeom prst="rect">
            <a:avLst/>
          </a:prstGeom>
          <a:noFill/>
          <a:ln/>
        </p:spPr>
        <p:txBody>
          <a:bodyPr wrap="square" lIns="0" tIns="0" rIns="0" bIns="0" rtlCol="0" anchor="ctr"/>
          <a:lstStyle/>
          <a:p>
            <a:pPr indent="0" marL="0">
              <a:buNone/>
            </a:pPr>
            <a:r>
              <a:rPr lang="fr-FR" altLang="en-US" sz="4400" b="1" dirty="0">
                <a:solidFill>
                  <a:schemeClr val="accent1"/>
                </a:solidFill>
                <a:latin typeface="+mj-lt" pitchFamily="34" charset="0"/>
                <a:ea typeface="+mj-lt" pitchFamily="34" charset="-122"/>
                <a:cs typeface="+mj-lt" pitchFamily="34" charset="-120"/>
              </a:rPr>
              <a:t>3</a:t>
            </a:r>
            <a:endParaRPr lang="fr-FR" sz="4400" dirty="0"/>
          </a:p>
        </p:txBody>
      </p:sp>
      <p:sp>
        <p:nvSpPr>
          <p:cNvPr id="10" name="Text 7"/>
          <p:cNvSpPr txBox="1"/>
          <p:nvPr/>
        </p:nvSpPr>
        <p:spPr>
          <a:xfrm>
            <a:off x="9281160" y="3200400"/>
            <a:ext cx="2377440" cy="731520"/>
          </a:xfrm>
          <a:prstGeom prst="rect">
            <a:avLst/>
          </a:prstGeom>
          <a:noFill/>
          <a:ln/>
        </p:spPr>
        <p:txBody>
          <a:bodyPr wrap="square" lIns="0" tIns="0" rIns="0" bIns="0" rtlCol="0" anchor="ctr"/>
          <a:lstStyle/>
          <a:p>
            <a:pPr indent="0" marL="0">
              <a:buNone/>
            </a:pPr>
            <a:r>
              <a:rPr lang="fr-FR" altLang="en-US" sz="1600" dirty="0">
                <a:solidFill>
                  <a:schemeClr val="tx1"/>
                </a:solidFill>
              </a:rPr>
              <a:t>trajectoires possibles</a:t>
            </a:r>
            <a:endParaRPr lang="fr-FR" sz="1600" dirty="0"/>
          </a:p>
        </p:txBody>
      </p:sp>
      <p:sp>
        <p:nvSpPr>
          <p:cNvPr id="11" name="mécanisme T"/>
          <p:cNvSpPr/>
          <p:nvPr/>
        </p:nvSpPr>
        <p:spPr>
          <a:xfrm>
            <a:off x="8503920" y="4160520"/>
            <a:ext cx="3136392" cy="1188720"/>
          </a:xfrm>
          <a:prstGeom prst="roundRect">
            <a:avLst>
              <a:gd name="adj" fmla="val 6154"/>
            </a:avLst>
          </a:prstGeom>
          <a:solidFill>
            <a:schemeClr val="bg2"/>
          </a:solidFill>
          <a:ln/>
          <a:effectLst>
            <a:outerShdw sx="100000" sy="100000" kx="0" ky="0" algn="bl" rotWithShape="0" blurRad="76200" dist="25400" dir="5400000">
              <a:srgbClr val="1D2B36">
                <a:alpha val="12000"/>
              </a:srgbClr>
            </a:outerShdw>
          </a:effectLst>
        </p:spPr>
      </p:sp>
      <p:sp>
        <p:nvSpPr>
          <p:cNvPr id="12" name="Text 9"/>
          <p:cNvSpPr txBox="1"/>
          <p:nvPr/>
        </p:nvSpPr>
        <p:spPr>
          <a:xfrm>
            <a:off x="8686800" y="4297680"/>
            <a:ext cx="2788920" cy="960120"/>
          </a:xfrm>
          <a:prstGeom prst="rect">
            <a:avLst/>
          </a:prstGeom>
          <a:noFill/>
          <a:ln/>
        </p:spPr>
        <p:txBody>
          <a:bodyPr wrap="square" lIns="0" tIns="0" rIns="0" bIns="0" rtlCol="0" anchor="t"/>
          <a:lstStyle/>
          <a:p>
            <a:pPr indent="0" marL="0">
              <a:buNone/>
            </a:pPr>
            <a:r>
              <a:rPr lang="fr-FR" altLang="en-US" sz="1500" b="1" dirty="0">
                <a:solidFill>
                  <a:schemeClr val="tx1"/>
                </a:solidFill>
              </a:rPr>
              <a:t>Pour finir en {T} : </a:t>
            </a:r>
            <a:pPr indent="0" marL="0">
              <a:buNone/>
            </a:pPr>
            <a:r>
              <a:rPr lang="fr-FR" altLang="en-US" sz="1500" dirty="0">
                <a:solidFill>
                  <a:schemeClr val="tx1"/>
                </a:solidFill>
              </a:rPr>
              <a:t>R1 (A mange P) puis R4 (A disparaît faute de P), avant R2 (A mange T).</a:t>
            </a:r>
            <a:endParaRPr lang="fr-FR"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Figure 7 : l'ordre des événements change les fins possibles</a:t>
            </a:r>
            <a:endParaRPr lang="fr-FR" sz="3000" dirty="0"/>
          </a:p>
        </p:txBody>
      </p:sp>
      <p:pic>
        <p:nvPicPr>
          <p:cNvPr id="3" name="Image 0" descr="Figure 7 reproduite : graphe synchrone APT, A, vide ; graphe asynchrone à 6 états">    </p:cNvPr>
          <p:cNvPicPr>
            <a:picLocks noChangeAspect="1"/>
          </p:cNvPicPr>
          <p:nvPr/>
        </p:nvPicPr>
        <p:blipFill>
          <a:blip r:embed="rId1"/>
          <a:stretch>
            <a:fillRect/>
          </a:stretch>
        </p:blipFill>
        <p:spPr>
          <a:xfrm>
            <a:off x="548640" y="1325880"/>
            <a:ext cx="4375230" cy="4069080"/>
          </a:xfrm>
          <a:prstGeom prst="rect">
            <a:avLst/>
          </a:prstGeom>
        </p:spPr>
      </p:pic>
      <p:sp>
        <p:nvSpPr>
          <p:cNvPr id="4" name="Text 1"/>
          <p:cNvSpPr txBox="1"/>
          <p:nvPr/>
        </p:nvSpPr>
        <p:spPr>
          <a:xfrm>
            <a:off x="548640" y="5504688"/>
            <a:ext cx="4375230" cy="502920"/>
          </a:xfrm>
          <a:prstGeom prst="rect">
            <a:avLst/>
          </a:prstGeom>
          <a:noFill/>
          <a:ln/>
        </p:spPr>
        <p:txBody>
          <a:bodyPr wrap="square" lIns="0" tIns="0" rIns="0" bIns="0" rtlCol="0" anchor="t"/>
          <a:lstStyle/>
          <a:p>
            <a:pPr indent="0" marL="0">
              <a:buNone/>
            </a:pPr>
            <a:r>
              <a:rPr lang="fr-FR" altLang="en-US" sz="1100" dirty="0">
                <a:solidFill>
                  <a:schemeClr val="accent6"/>
                </a:solidFill>
              </a:rPr>
              <a:t>Mêmes graphes que ceux affichés par ecco (notebooks APT_synchrone et APT_asynchrone).</a:t>
            </a:r>
            <a:endParaRPr lang="fr-FR" sz="1100" dirty="0"/>
          </a:p>
        </p:txBody>
      </p:sp>
      <p:sp>
        <p:nvSpPr>
          <p:cNvPr id="5" name="carte synchrone"/>
          <p:cNvSpPr/>
          <p:nvPr/>
        </p:nvSpPr>
        <p:spPr>
          <a:xfrm>
            <a:off x="6172200" y="1371600"/>
            <a:ext cx="5468112" cy="1097280"/>
          </a:xfrm>
          <a:prstGeom prst="roundRect">
            <a:avLst>
              <a:gd name="adj" fmla="val 6667"/>
            </a:avLst>
          </a:prstGeom>
          <a:solidFill>
            <a:schemeClr val="accent4">
              <a:alpha val="45000"/>
            </a:schemeClr>
          </a:solidFill>
          <a:ln/>
          <a:effectLst>
            <a:outerShdw sx="100000" sy="100000" kx="0" ky="0" algn="bl" rotWithShape="0" blurRad="76200" dist="25400" dir="5400000">
              <a:srgbClr val="1D2B36">
                <a:alpha val="12000"/>
              </a:srgbClr>
            </a:outerShdw>
          </a:effectLst>
        </p:spPr>
      </p:sp>
      <p:sp>
        <p:nvSpPr>
          <p:cNvPr id="6" name="Text 3"/>
          <p:cNvSpPr txBox="1"/>
          <p:nvPr/>
        </p:nvSpPr>
        <p:spPr>
          <a:xfrm>
            <a:off x="6400800" y="1481328"/>
            <a:ext cx="5029200" cy="896112"/>
          </a:xfrm>
          <a:prstGeom prst="rect">
            <a:avLst/>
          </a:prstGeom>
          <a:noFill/>
          <a:ln/>
        </p:spPr>
        <p:txBody>
          <a:bodyPr wrap="square" lIns="0" tIns="0" rIns="0" bIns="0" rtlCol="0" anchor="t"/>
          <a:lstStyle/>
          <a:p>
            <a:pPr indent="0" marL="0">
              <a:buNone/>
            </a:pPr>
            <a:r>
              <a:rPr lang="fr-FR" altLang="en-US" sz="1800" b="1" dirty="0">
                <a:solidFill>
                  <a:schemeClr val="tx1"/>
                </a:solidFill>
              </a:rPr>
              <a:t>Synchrone</a:t>
            </a:r>
            <a:endParaRPr lang="fr-FR" sz="1500" dirty="0"/>
          </a:p>
          <a:p>
            <a:pPr indent="0" marL="0">
              <a:buNone/>
            </a:pPr>
            <a:r>
              <a:rPr lang="fr-FR" altLang="en-US" sz="1500" dirty="0">
                <a:solidFill>
                  <a:schemeClr val="tx1"/>
                </a:solidFill>
              </a:rPr>
              <a:t>R1, R2 et R3 en même temps : A mange P et T au même instant.</a:t>
            </a:r>
            <a:endParaRPr lang="fr-FR" sz="1500" dirty="0"/>
          </a:p>
          <a:p>
            <a:pPr indent="0" marL="0">
              <a:buNone/>
            </a:pPr>
            <a:r>
              <a:rPr lang="fr-FR" altLang="en-US" sz="1500" b="1" dirty="0">
                <a:solidFill>
                  <a:schemeClr val="tx1"/>
                </a:solidFill>
              </a:rPr>
              <a:t>→ une seule trajectoire, fin ∅</a:t>
            </a:r>
            <a:endParaRPr lang="fr-FR" sz="1500" dirty="0"/>
          </a:p>
        </p:txBody>
      </p:sp>
      <p:sp>
        <p:nvSpPr>
          <p:cNvPr id="7" name="carte asynchrone"/>
          <p:cNvSpPr/>
          <p:nvPr/>
        </p:nvSpPr>
        <p:spPr>
          <a:xfrm>
            <a:off x="6172200" y="2697480"/>
            <a:ext cx="5468112" cy="1371600"/>
          </a:xfrm>
          <a:prstGeom prst="roundRect">
            <a:avLst>
              <a:gd name="adj" fmla="val 5333"/>
            </a:avLst>
          </a:prstGeom>
          <a:solidFill>
            <a:schemeClr val="accent3">
              <a:alpha val="45000"/>
            </a:schemeClr>
          </a:solidFill>
          <a:ln/>
          <a:effectLst>
            <a:outerShdw sx="100000" sy="100000" kx="0" ky="0" algn="bl" rotWithShape="0" blurRad="76200" dist="25400" dir="5400000">
              <a:srgbClr val="1D2B36">
                <a:alpha val="12000"/>
              </a:srgbClr>
            </a:outerShdw>
          </a:effectLst>
        </p:spPr>
      </p:sp>
      <p:sp>
        <p:nvSpPr>
          <p:cNvPr id="8" name="Text 5"/>
          <p:cNvSpPr txBox="1"/>
          <p:nvPr/>
        </p:nvSpPr>
        <p:spPr>
          <a:xfrm>
            <a:off x="6400800" y="2807208"/>
            <a:ext cx="5029200" cy="1170432"/>
          </a:xfrm>
          <a:prstGeom prst="rect">
            <a:avLst/>
          </a:prstGeom>
          <a:noFill/>
          <a:ln/>
        </p:spPr>
        <p:txBody>
          <a:bodyPr wrap="square" lIns="0" tIns="0" rIns="0" bIns="0" rtlCol="0" anchor="t"/>
          <a:lstStyle/>
          <a:p>
            <a:pPr indent="0" marL="0">
              <a:buNone/>
            </a:pPr>
            <a:r>
              <a:rPr lang="fr-FR" altLang="en-US" sz="1800" b="1" dirty="0">
                <a:solidFill>
                  <a:schemeClr val="tx1"/>
                </a:solidFill>
              </a:rPr>
              <a:t>Asynchrone</a:t>
            </a:r>
            <a:endParaRPr lang="fr-FR" sz="1500" dirty="0"/>
          </a:p>
          <a:p>
            <a:pPr indent="0" marL="0">
              <a:buNone/>
            </a:pPr>
            <a:r>
              <a:rPr lang="fr-FR" altLang="en-US" sz="1500" dirty="0">
                <a:solidFill>
                  <a:schemeClr val="tx1"/>
                </a:solidFill>
              </a:rPr>
              <a:t>Une règle à la fois : si R4 passe avant R2, T survit.</a:t>
            </a:r>
            <a:endParaRPr lang="fr-FR" sz="1500" dirty="0"/>
          </a:p>
          <a:p>
            <a:pPr indent="0" marL="0">
              <a:buNone/>
            </a:pPr>
            <a:r>
              <a:rPr lang="fr-FR" altLang="en-US" sz="1500" b="1" dirty="0">
                <a:solidFill>
                  <a:schemeClr val="tx1"/>
                </a:solidFill>
              </a:rPr>
              <a:t>→ trois trajectoires, fins {T} ou ∅ ; {T} est observé en laboratoire</a:t>
            </a:r>
            <a:endParaRPr lang="fr-FR" sz="1500" dirty="0"/>
          </a:p>
        </p:txBody>
      </p:sp>
      <p:sp>
        <p:nvSpPr>
          <p:cNvPr id="9" name="pastille ?"/>
          <p:cNvSpPr/>
          <p:nvPr/>
        </p:nvSpPr>
        <p:spPr>
          <a:xfrm>
            <a:off x="6195060" y="4347972"/>
            <a:ext cx="411480" cy="411480"/>
          </a:xfrm>
          <a:prstGeom prst="ellipse">
            <a:avLst/>
          </a:prstGeom>
          <a:solidFill>
            <a:schemeClr val="tx1"/>
          </a:solidFill>
          <a:ln w="9525">
            <a:solidFill>
              <a:schemeClr val="tx1"/>
            </a:solidFill>
            <a:prstDash val="solid"/>
          </a:ln>
        </p:spPr>
      </p:sp>
      <p:sp>
        <p:nvSpPr>
          <p:cNvPr id="10" name="Text 7"/>
          <p:cNvSpPr txBox="1"/>
          <p:nvPr/>
        </p:nvSpPr>
        <p:spPr>
          <a:xfrm>
            <a:off x="6195060" y="4347972"/>
            <a:ext cx="411480" cy="411480"/>
          </a:xfrm>
          <a:prstGeom prst="rect">
            <a:avLst/>
          </a:prstGeom>
          <a:noFill/>
          <a:ln/>
        </p:spPr>
        <p:txBody>
          <a:bodyPr wrap="square" lIns="0" tIns="0" rIns="0" bIns="0" rtlCol="0" anchor="ctr"/>
          <a:lstStyle/>
          <a:p>
            <a:pPr algn="ctr" indent="0" marL="0">
              <a:buNone/>
            </a:pPr>
            <a:r>
              <a:rPr lang="fr-FR" altLang="en-US" sz="1600" b="1" dirty="0">
                <a:solidFill>
                  <a:schemeClr val="bg1"/>
                </a:solidFill>
              </a:rPr>
              <a:t>?</a:t>
            </a:r>
            <a:endParaRPr lang="fr-FR" sz="1600" dirty="0"/>
          </a:p>
        </p:txBody>
      </p:sp>
      <p:sp>
        <p:nvSpPr>
          <p:cNvPr id="11" name="Text 8"/>
          <p:cNvSpPr txBox="1"/>
          <p:nvPr/>
        </p:nvSpPr>
        <p:spPr>
          <a:xfrm>
            <a:off x="6766560" y="4352544"/>
            <a:ext cx="4873752" cy="1325880"/>
          </a:xfrm>
          <a:prstGeom prst="rect">
            <a:avLst/>
          </a:prstGeom>
          <a:noFill/>
          <a:ln/>
        </p:spPr>
        <p:txBody>
          <a:bodyPr wrap="square" lIns="0" tIns="0" rIns="0" bIns="0" rtlCol="0" anchor="t"/>
          <a:lstStyle/>
          <a:p>
            <a:pPr indent="0" marL="0">
              <a:buNone/>
            </a:pPr>
            <a:r>
              <a:rPr lang="fr-FR" altLang="en-US" sz="1400" b="1" dirty="0">
                <a:solidFill>
                  <a:schemeClr val="tx1"/>
                </a:solidFill>
              </a:rPr>
              <a:t>Le synchrone dans ecco ? </a:t>
            </a:r>
            <a:pPr indent="0" marL="0">
              <a:buNone/>
            </a:pPr>
            <a:r>
              <a:rPr lang="fr-FR" altLang="en-US" sz="1400" dirty="0">
                <a:solidFill>
                  <a:schemeClr val="tx1"/>
                </a:solidFill>
              </a:rPr>
              <a:t>Pas de mode natif : nous avons regroupé à la main les règles tirées ensemble (S1 = R1, R2, R3 depuis APT ; S2 = R4 depuis A). Cela reproduit la Fig. 7a, mais ne vaut que depuis {APT}.</a:t>
            </a:r>
            <a:endParaRPr lang="fr-FR"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tx1"/>
                </a:solidFill>
              </a:rPr>
              <a:t>La reproduction valide le calcul, pas l'écologie</a:t>
            </a:r>
            <a:endParaRPr lang="fr-FR" sz="3000" dirty="0"/>
          </a:p>
        </p:txBody>
      </p:sp>
      <p:sp>
        <p:nvSpPr>
          <p:cNvPr id="3" name="colonne solide"/>
          <p:cNvSpPr/>
          <p:nvPr/>
        </p:nvSpPr>
        <p:spPr>
          <a:xfrm>
            <a:off x="548640" y="1417320"/>
            <a:ext cx="5394960" cy="3977640"/>
          </a:xfrm>
          <a:prstGeom prst="roundRect">
            <a:avLst>
              <a:gd name="adj" fmla="val 1839"/>
            </a:avLst>
          </a:prstGeom>
          <a:solidFill>
            <a:schemeClr val="accent3">
              <a:alpha val="32000"/>
            </a:schemeClr>
          </a:solidFill>
          <a:ln/>
          <a:effectLst>
            <a:outerShdw sx="100000" sy="100000" kx="0" ky="0" algn="bl" rotWithShape="0" blurRad="76200" dist="25400" dir="5400000">
              <a:srgbClr val="1D2B36">
                <a:alpha val="12000"/>
              </a:srgbClr>
            </a:outerShdw>
          </a:effectLst>
        </p:spPr>
      </p:sp>
      <p:sp>
        <p:nvSpPr>
          <p:cNvPr id="4" name="pastille +"/>
          <p:cNvSpPr/>
          <p:nvPr/>
        </p:nvSpPr>
        <p:spPr>
          <a:xfrm>
            <a:off x="800100" y="1668780"/>
            <a:ext cx="502920" cy="502920"/>
          </a:xfrm>
          <a:prstGeom prst="ellipse">
            <a:avLst/>
          </a:prstGeom>
          <a:solidFill>
            <a:schemeClr val="accent1"/>
          </a:solidFill>
          <a:ln w="9525">
            <a:solidFill>
              <a:schemeClr val="accent1"/>
            </a:solidFill>
            <a:prstDash val="solid"/>
          </a:ln>
        </p:spPr>
      </p:sp>
      <p:sp>
        <p:nvSpPr>
          <p:cNvPr id="5" name="Text 3"/>
          <p:cNvSpPr txBox="1"/>
          <p:nvPr/>
        </p:nvSpPr>
        <p:spPr>
          <a:xfrm>
            <a:off x="800100" y="1668780"/>
            <a:ext cx="502920" cy="502920"/>
          </a:xfrm>
          <a:prstGeom prst="rect">
            <a:avLst/>
          </a:prstGeom>
          <a:noFill/>
          <a:ln/>
        </p:spPr>
        <p:txBody>
          <a:bodyPr wrap="square" lIns="0" tIns="0" rIns="0" bIns="0" rtlCol="0" anchor="ctr"/>
          <a:lstStyle/>
          <a:p>
            <a:pPr algn="ctr" indent="0" marL="0">
              <a:buNone/>
            </a:pPr>
            <a:r>
              <a:rPr lang="fr-FR" altLang="en-US" sz="2200" b="1" dirty="0">
                <a:solidFill>
                  <a:schemeClr val="bg1"/>
                </a:solidFill>
              </a:rPr>
              <a:t>+</a:t>
            </a:r>
            <a:endParaRPr lang="fr-FR" sz="2200" dirty="0"/>
          </a:p>
        </p:txBody>
      </p:sp>
      <p:sp>
        <p:nvSpPr>
          <p:cNvPr id="6" name="Text 4"/>
          <p:cNvSpPr txBox="1"/>
          <p:nvPr/>
        </p:nvSpPr>
        <p:spPr>
          <a:xfrm>
            <a:off x="1463040" y="1691640"/>
            <a:ext cx="4114800" cy="457200"/>
          </a:xfrm>
          <a:prstGeom prst="rect">
            <a:avLst/>
          </a:prstGeom>
          <a:noFill/>
          <a:ln/>
        </p:spPr>
        <p:txBody>
          <a:bodyPr wrap="square" lIns="0" tIns="0" rIns="0" bIns="0" rtlCol="0" anchor="ctr"/>
          <a:lstStyle/>
          <a:p>
            <a:pPr indent="0" marL="0">
              <a:buNone/>
            </a:pPr>
            <a:r>
              <a:rPr lang="fr-FR" altLang="en-US" sz="2200" b="1" dirty="0">
                <a:solidFill>
                  <a:schemeClr val="tx1"/>
                </a:solidFill>
              </a:rPr>
              <a:t>Solide</a:t>
            </a:r>
            <a:endParaRPr lang="fr-FR" sz="2200" dirty="0"/>
          </a:p>
        </p:txBody>
      </p:sp>
      <p:sp>
        <p:nvSpPr>
          <p:cNvPr id="7" name="Text 5"/>
          <p:cNvSpPr txBox="1"/>
          <p:nvPr/>
        </p:nvSpPr>
        <p:spPr>
          <a:xfrm>
            <a:off x="868680" y="2468880"/>
            <a:ext cx="4846320" cy="2788920"/>
          </a:xfrm>
          <a:prstGeom prst="rect">
            <a:avLst/>
          </a:prstGeom>
          <a:noFill/>
          <a:ln/>
        </p:spPr>
        <p:txBody>
          <a:bodyPr wrap="square" lIns="0" tIns="0" rIns="0" bIns="0" rtlCol="0" anchor="t"/>
          <a:lstStyle/>
          <a:p>
            <a:pPr marL="342900" indent="-342900">
              <a:spcAft>
                <a:spcPts val="800"/>
              </a:spcAft>
              <a:buSzPct val="100000"/>
              <a:buChar char="•"/>
            </a:pPr>
            <a:r>
              <a:rPr lang="fr-FR" altLang="en-US" sz="1700" dirty="0">
                <a:solidFill>
                  <a:schemeClr val="tx1"/>
                </a:solidFill>
              </a:rPr>
              <a:t>Graphes calculés directement par ecco</a:t>
            </a:r>
            <a:endParaRPr lang="fr-FR" sz="1700" dirty="0"/>
          </a:p>
          <a:p>
            <a:pPr marL="342900" indent="-342900">
              <a:spcAft>
                <a:spcPts val="800"/>
              </a:spcAft>
              <a:buSzPct val="100000"/>
              <a:buChar char="•"/>
            </a:pPr>
            <a:r>
              <a:rPr lang="fr-FR" altLang="en-US" sz="1700" dirty="0">
                <a:solidFill>
                  <a:schemeClr val="tx1"/>
                </a:solidFill>
              </a:rPr>
              <a:t>Graphe asynchrone identique, arc par arc, à la Fig. 5c</a:t>
            </a:r>
            <a:endParaRPr lang="fr-FR" sz="1700" dirty="0"/>
          </a:p>
          <a:p>
            <a:pPr marL="342900" indent="-342900">
              <a:spcAft>
                <a:spcPts val="800"/>
              </a:spcAft>
              <a:buSzPct val="100000"/>
              <a:buChar char="•"/>
            </a:pPr>
            <a:r>
              <a:rPr lang="fr-FR" altLang="en-US" sz="1700" dirty="0">
                <a:solidFill>
                  <a:schemeClr val="tx1"/>
                </a:solidFill>
              </a:rPr>
              <a:t>Calcul déterministe, vérifiable à la main sur 8 états</a:t>
            </a:r>
            <a:endParaRPr lang="fr-FR" sz="1700" dirty="0"/>
          </a:p>
          <a:p>
            <a:pPr marL="342900" indent="-342900">
              <a:spcAft>
                <a:spcPts val="800"/>
              </a:spcAft>
              <a:buSzPct val="100000"/>
              <a:buChar char="•"/>
            </a:pPr>
            <a:r>
              <a:rPr lang="fr-FR" altLang="en-US" sz="1700" dirty="0">
                <a:solidFill>
                  <a:schemeClr val="tx1"/>
                </a:solidFill>
              </a:rPr>
              <a:t>Tous les points vérifiables de l'article se lisent sur les graphes</a:t>
            </a:r>
            <a:endParaRPr lang="fr-FR" sz="1700" dirty="0"/>
          </a:p>
        </p:txBody>
      </p:sp>
      <p:sp>
        <p:nvSpPr>
          <p:cNvPr id="8" name="colonne fragile"/>
          <p:cNvSpPr/>
          <p:nvPr/>
        </p:nvSpPr>
        <p:spPr>
          <a:xfrm>
            <a:off x="6245352" y="1417320"/>
            <a:ext cx="5394960" cy="3977640"/>
          </a:xfrm>
          <a:prstGeom prst="roundRect">
            <a:avLst>
              <a:gd name="adj" fmla="val 1839"/>
            </a:avLst>
          </a:prstGeom>
          <a:solidFill>
            <a:schemeClr val="accent5">
              <a:alpha val="14000"/>
            </a:schemeClr>
          </a:solidFill>
          <a:ln/>
          <a:effectLst>
            <a:outerShdw sx="100000" sy="100000" kx="0" ky="0" algn="bl" rotWithShape="0" blurRad="76200" dist="25400" dir="5400000">
              <a:srgbClr val="1D2B36">
                <a:alpha val="12000"/>
              </a:srgbClr>
            </a:outerShdw>
          </a:effectLst>
        </p:spPr>
      </p:sp>
      <p:sp>
        <p:nvSpPr>
          <p:cNvPr id="9" name="pastille !"/>
          <p:cNvSpPr/>
          <p:nvPr/>
        </p:nvSpPr>
        <p:spPr>
          <a:xfrm>
            <a:off x="6496812" y="1668780"/>
            <a:ext cx="502920" cy="502920"/>
          </a:xfrm>
          <a:prstGeom prst="ellipse">
            <a:avLst/>
          </a:prstGeom>
          <a:solidFill>
            <a:schemeClr val="accent5"/>
          </a:solidFill>
          <a:ln w="9525">
            <a:solidFill>
              <a:schemeClr val="accent5"/>
            </a:solidFill>
            <a:prstDash val="solid"/>
          </a:ln>
        </p:spPr>
      </p:sp>
      <p:sp>
        <p:nvSpPr>
          <p:cNvPr id="10" name="Text 8"/>
          <p:cNvSpPr txBox="1"/>
          <p:nvPr/>
        </p:nvSpPr>
        <p:spPr>
          <a:xfrm>
            <a:off x="6496812" y="1668780"/>
            <a:ext cx="502920" cy="502920"/>
          </a:xfrm>
          <a:prstGeom prst="rect">
            <a:avLst/>
          </a:prstGeom>
          <a:noFill/>
          <a:ln/>
        </p:spPr>
        <p:txBody>
          <a:bodyPr wrap="square" lIns="0" tIns="0" rIns="0" bIns="0" rtlCol="0" anchor="ctr"/>
          <a:lstStyle/>
          <a:p>
            <a:pPr algn="ctr" indent="0" marL="0">
              <a:buNone/>
            </a:pPr>
            <a:r>
              <a:rPr lang="fr-FR" altLang="en-US" sz="2200" b="1" dirty="0">
                <a:solidFill>
                  <a:schemeClr val="bg1"/>
                </a:solidFill>
              </a:rPr>
              <a:t>!</a:t>
            </a:r>
            <a:endParaRPr lang="fr-FR" sz="2200" dirty="0"/>
          </a:p>
        </p:txBody>
      </p:sp>
      <p:sp>
        <p:nvSpPr>
          <p:cNvPr id="11" name="Text 9"/>
          <p:cNvSpPr txBox="1"/>
          <p:nvPr/>
        </p:nvSpPr>
        <p:spPr>
          <a:xfrm>
            <a:off x="7159752" y="1691640"/>
            <a:ext cx="4114800" cy="457200"/>
          </a:xfrm>
          <a:prstGeom prst="rect">
            <a:avLst/>
          </a:prstGeom>
          <a:noFill/>
          <a:ln/>
        </p:spPr>
        <p:txBody>
          <a:bodyPr wrap="square" lIns="0" tIns="0" rIns="0" bIns="0" rtlCol="0" anchor="ctr"/>
          <a:lstStyle/>
          <a:p>
            <a:pPr indent="0" marL="0">
              <a:buNone/>
            </a:pPr>
            <a:r>
              <a:rPr lang="fr-FR" altLang="en-US" sz="2200" b="1" dirty="0">
                <a:solidFill>
                  <a:schemeClr val="tx1"/>
                </a:solidFill>
              </a:rPr>
              <a:t>Fragile</a:t>
            </a:r>
            <a:endParaRPr lang="fr-FR" sz="2200" dirty="0"/>
          </a:p>
        </p:txBody>
      </p:sp>
      <p:sp>
        <p:nvSpPr>
          <p:cNvPr id="12" name="Text 10"/>
          <p:cNvSpPr txBox="1"/>
          <p:nvPr/>
        </p:nvSpPr>
        <p:spPr>
          <a:xfrm>
            <a:off x="6565392" y="2468880"/>
            <a:ext cx="4846320" cy="2834640"/>
          </a:xfrm>
          <a:prstGeom prst="rect">
            <a:avLst/>
          </a:prstGeom>
          <a:noFill/>
          <a:ln/>
        </p:spPr>
        <p:txBody>
          <a:bodyPr wrap="square" lIns="0" tIns="0" rIns="0" bIns="0" rtlCol="0" anchor="t"/>
          <a:lstStyle/>
          <a:p>
            <a:pPr marL="342900" indent="-342900">
              <a:spcAft>
                <a:spcPts val="800"/>
              </a:spcAft>
              <a:buSzPct val="100000"/>
              <a:buChar char="•"/>
            </a:pPr>
            <a:r>
              <a:rPr lang="fr-FR" altLang="en-US" sz="1600" dirty="0">
                <a:solidFill>
                  <a:schemeClr val="tx1"/>
                </a:solidFill>
              </a:rPr>
              <a:t>Synchrone codé à la main, valable seulement depuis {APT}</a:t>
            </a:r>
            <a:endParaRPr lang="fr-FR" sz="1600" dirty="0"/>
          </a:p>
          <a:p>
            <a:pPr marL="342900" indent="-342900">
              <a:spcAft>
                <a:spcPts val="800"/>
              </a:spcAft>
              <a:buSzPct val="100000"/>
              <a:buChar char="•"/>
            </a:pPr>
            <a:r>
              <a:rPr lang="fr-FR" altLang="en-US" sz="1600" dirty="0">
                <a:solidFill>
                  <a:schemeClr val="tx1"/>
                </a:solidFill>
              </a:rPr>
              <a:t>Une seule étude expérimentale (Weatherby et al., 1998), aucun chiffre dans l'article</a:t>
            </a:r>
            <a:endParaRPr lang="fr-FR" sz="1600" dirty="0"/>
          </a:p>
          <a:p>
            <a:pPr marL="342900" indent="-342900">
              <a:spcAft>
                <a:spcPts val="800"/>
              </a:spcAft>
              <a:buSzPct val="100000"/>
              <a:buChar char="•"/>
            </a:pPr>
            <a:r>
              <a:rPr lang="fr-FR" altLang="en-US" sz="1600" dirty="0">
                <a:solidFill>
                  <a:schemeClr val="tx1"/>
                </a:solidFill>
              </a:rPr>
              <a:t>Règles dérivées des mêmes expériences : validation non indépendante</a:t>
            </a:r>
            <a:endParaRPr lang="fr-FR" sz="1600" dirty="0"/>
          </a:p>
          <a:p>
            <a:pPr marL="342900" indent="-342900">
              <a:spcAft>
                <a:spcPts val="800"/>
              </a:spcAft>
              <a:buSzPct val="100000"/>
              <a:buChar char="•"/>
            </a:pPr>
            <a:r>
              <a:rPr lang="fr-FR" altLang="en-US" sz="1600" dirty="0">
                <a:solidFill>
                  <a:schemeClr val="tx1"/>
                </a:solidFill>
              </a:rPr>
              <a:t>Exemple jouet : 3 espèces, 4 règles</a:t>
            </a:r>
            <a:endParaRPr lang="fr-FR" sz="1600" dirty="0"/>
          </a:p>
          <a:p>
            <a:pPr marL="342900" indent="-342900">
              <a:spcAft>
                <a:spcPts val="800"/>
              </a:spcAft>
              <a:buSzPct val="100000"/>
              <a:buChar char="•"/>
            </a:pPr>
            <a:r>
              <a:rPr lang="fr-FR" altLang="en-US" sz="1600" dirty="0">
                <a:solidFill>
                  <a:schemeClr val="tx1"/>
                </a:solidFill>
              </a:rPr>
              <a:t>« Possible » ne veut pas dire « probable »</a:t>
            </a:r>
            <a:endParaRPr lang="fr-FR" sz="1600" dirty="0"/>
          </a:p>
        </p:txBody>
      </p:sp>
      <p:sp>
        <p:nvSpPr>
          <p:cNvPr id="13" name="Text 11"/>
          <p:cNvSpPr txBox="1"/>
          <p:nvPr/>
        </p:nvSpPr>
        <p:spPr>
          <a:xfrm>
            <a:off x="548640" y="5577840"/>
            <a:ext cx="11091672" cy="457200"/>
          </a:xfrm>
          <a:prstGeom prst="rect">
            <a:avLst/>
          </a:prstGeom>
          <a:noFill/>
          <a:ln/>
        </p:spPr>
        <p:txBody>
          <a:bodyPr wrap="square" lIns="0" tIns="0" rIns="0" bIns="0" rtlCol="0" anchor="t"/>
          <a:lstStyle/>
          <a:p>
            <a:pPr indent="0" marL="0">
              <a:buNone/>
            </a:pPr>
            <a:r>
              <a:rPr lang="fr-FR" altLang="en-US" sz="1200" dirty="0">
                <a:solidFill>
                  <a:schemeClr val="accent6"/>
                </a:solidFill>
              </a:rPr>
              <a:t>Graphes calculés dans ecco Jupyter (notebooks APT_asynchrone et APT_synchrone).</a:t>
            </a:r>
            <a:endParaRPr lang="fr-FR"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22960"/>
          </a:xfrm>
          <a:prstGeom prst="rect">
            <a:avLst/>
          </a:prstGeom>
          <a:noFill/>
          <a:ln/>
        </p:spPr>
        <p:txBody>
          <a:bodyPr wrap="square" lIns="0" tIns="0" rIns="0" bIns="0" rtlCol="0" anchor="ctr"/>
          <a:lstStyle/>
          <a:p>
            <a:pPr algn="l" indent="0" marL="0">
              <a:buNone/>
            </a:pPr>
            <a:r>
              <a:rPr lang="fr-FR" altLang="en-US" sz="3000" b="1" dirty="0">
                <a:solidFill>
                  <a:schemeClr val="bg1"/>
                </a:solidFill>
              </a:rPr>
              <a:t>Perspectives</a:t>
            </a:r>
            <a:endParaRPr lang="fr-FR" sz="3000" dirty="0"/>
          </a:p>
        </p:txBody>
      </p:sp>
      <p:sp>
        <p:nvSpPr>
          <p:cNvPr id="3" name="perspective 1"/>
          <p:cNvSpPr/>
          <p:nvPr/>
        </p:nvSpPr>
        <p:spPr>
          <a:xfrm>
            <a:off x="548640" y="1417320"/>
            <a:ext cx="5394960" cy="1280160"/>
          </a:xfrm>
          <a:prstGeom prst="roundRect">
            <a:avLst>
              <a:gd name="adj" fmla="val 5714"/>
            </a:avLst>
          </a:prstGeom>
          <a:solidFill>
            <a:schemeClr val="tx2"/>
          </a:solidFill>
          <a:ln/>
          <a:effectLst>
            <a:outerShdw sx="100000" sy="100000" kx="0" ky="0" algn="bl" rotWithShape="0" blurRad="76200" dist="25400" dir="5400000">
              <a:srgbClr val="1D2B36">
                <a:alpha val="12000"/>
              </a:srgbClr>
            </a:outerShdw>
          </a:effectLst>
        </p:spPr>
      </p:sp>
      <p:sp>
        <p:nvSpPr>
          <p:cNvPr id="4" name="pastille 1"/>
          <p:cNvSpPr/>
          <p:nvPr/>
        </p:nvSpPr>
        <p:spPr>
          <a:xfrm>
            <a:off x="800100" y="1805940"/>
            <a:ext cx="502920" cy="502920"/>
          </a:xfrm>
          <a:prstGeom prst="ellipse">
            <a:avLst/>
          </a:prstGeom>
          <a:solidFill>
            <a:schemeClr val="accent3"/>
          </a:solidFill>
          <a:ln w="9525">
            <a:solidFill>
              <a:schemeClr val="accent3"/>
            </a:solidFill>
            <a:prstDash val="solid"/>
          </a:ln>
        </p:spPr>
      </p:sp>
      <p:sp>
        <p:nvSpPr>
          <p:cNvPr id="5" name="Text 3"/>
          <p:cNvSpPr txBox="1"/>
          <p:nvPr/>
        </p:nvSpPr>
        <p:spPr>
          <a:xfrm>
            <a:off x="800100" y="1805940"/>
            <a:ext cx="502920" cy="502920"/>
          </a:xfrm>
          <a:prstGeom prst="rect">
            <a:avLst/>
          </a:prstGeom>
          <a:noFill/>
          <a:ln/>
        </p:spPr>
        <p:txBody>
          <a:bodyPr wrap="square" lIns="0" tIns="0" rIns="0" bIns="0" rtlCol="0" anchor="ctr"/>
          <a:lstStyle/>
          <a:p>
            <a:pPr algn="ctr" indent="0" marL="0">
              <a:buNone/>
            </a:pPr>
            <a:r>
              <a:rPr lang="fr-FR" altLang="en-US" sz="1800" b="1" dirty="0">
                <a:solidFill>
                  <a:schemeClr val="tx1"/>
                </a:solidFill>
              </a:rPr>
              <a:t>1</a:t>
            </a:r>
            <a:endParaRPr lang="fr-FR" sz="1800" dirty="0"/>
          </a:p>
        </p:txBody>
      </p:sp>
      <p:sp>
        <p:nvSpPr>
          <p:cNvPr id="6" name="Text 4"/>
          <p:cNvSpPr txBox="1"/>
          <p:nvPr/>
        </p:nvSpPr>
        <p:spPr>
          <a:xfrm>
            <a:off x="1508760" y="1600200"/>
            <a:ext cx="4206240" cy="914400"/>
          </a:xfrm>
          <a:prstGeom prst="rect">
            <a:avLst/>
          </a:prstGeom>
          <a:noFill/>
          <a:ln/>
        </p:spPr>
        <p:txBody>
          <a:bodyPr wrap="square" lIns="0" tIns="0" rIns="0" bIns="0" rtlCol="0" anchor="ctr"/>
          <a:lstStyle/>
          <a:p>
            <a:pPr indent="0" marL="0">
              <a:buNone/>
            </a:pPr>
            <a:r>
              <a:rPr lang="fr-FR" altLang="en-US" sz="1700" dirty="0">
                <a:solidFill>
                  <a:schemeClr val="bg1"/>
                </a:solidFill>
              </a:rPr>
              <a:t>Valider sur les autres combinaisons d'espèces du même pool expérimental</a:t>
            </a:r>
            <a:endParaRPr lang="fr-FR" sz="1700" dirty="0"/>
          </a:p>
        </p:txBody>
      </p:sp>
      <p:sp>
        <p:nvSpPr>
          <p:cNvPr id="7" name="perspective 2"/>
          <p:cNvSpPr/>
          <p:nvPr/>
        </p:nvSpPr>
        <p:spPr>
          <a:xfrm>
            <a:off x="6245352" y="1417320"/>
            <a:ext cx="5394960" cy="1280160"/>
          </a:xfrm>
          <a:prstGeom prst="roundRect">
            <a:avLst>
              <a:gd name="adj" fmla="val 5714"/>
            </a:avLst>
          </a:prstGeom>
          <a:solidFill>
            <a:schemeClr val="tx2"/>
          </a:solidFill>
          <a:ln/>
          <a:effectLst>
            <a:outerShdw sx="100000" sy="100000" kx="0" ky="0" algn="bl" rotWithShape="0" blurRad="76200" dist="25400" dir="5400000">
              <a:srgbClr val="1D2B36">
                <a:alpha val="12000"/>
              </a:srgbClr>
            </a:outerShdw>
          </a:effectLst>
        </p:spPr>
      </p:sp>
      <p:sp>
        <p:nvSpPr>
          <p:cNvPr id="8" name="pastille 2"/>
          <p:cNvSpPr/>
          <p:nvPr/>
        </p:nvSpPr>
        <p:spPr>
          <a:xfrm>
            <a:off x="6496812" y="1805940"/>
            <a:ext cx="502920" cy="502920"/>
          </a:xfrm>
          <a:prstGeom prst="ellipse">
            <a:avLst/>
          </a:prstGeom>
          <a:solidFill>
            <a:schemeClr val="accent3"/>
          </a:solidFill>
          <a:ln w="9525">
            <a:solidFill>
              <a:schemeClr val="accent3"/>
            </a:solidFill>
            <a:prstDash val="solid"/>
          </a:ln>
        </p:spPr>
      </p:sp>
      <p:sp>
        <p:nvSpPr>
          <p:cNvPr id="9" name="Text 7"/>
          <p:cNvSpPr txBox="1"/>
          <p:nvPr/>
        </p:nvSpPr>
        <p:spPr>
          <a:xfrm>
            <a:off x="6496812" y="1805940"/>
            <a:ext cx="502920" cy="502920"/>
          </a:xfrm>
          <a:prstGeom prst="rect">
            <a:avLst/>
          </a:prstGeom>
          <a:noFill/>
          <a:ln/>
        </p:spPr>
        <p:txBody>
          <a:bodyPr wrap="square" lIns="0" tIns="0" rIns="0" bIns="0" rtlCol="0" anchor="ctr"/>
          <a:lstStyle/>
          <a:p>
            <a:pPr algn="ctr" indent="0" marL="0">
              <a:buNone/>
            </a:pPr>
            <a:r>
              <a:rPr lang="fr-FR" altLang="en-US" sz="1800" b="1" dirty="0">
                <a:solidFill>
                  <a:schemeClr val="tx1"/>
                </a:solidFill>
              </a:rPr>
              <a:t>2</a:t>
            </a:r>
            <a:endParaRPr lang="fr-FR" sz="1800" dirty="0"/>
          </a:p>
        </p:txBody>
      </p:sp>
      <p:sp>
        <p:nvSpPr>
          <p:cNvPr id="10" name="Text 8"/>
          <p:cNvSpPr txBox="1"/>
          <p:nvPr/>
        </p:nvSpPr>
        <p:spPr>
          <a:xfrm>
            <a:off x="7205472" y="1600200"/>
            <a:ext cx="4206240" cy="914400"/>
          </a:xfrm>
          <a:prstGeom prst="rect">
            <a:avLst/>
          </a:prstGeom>
          <a:noFill/>
          <a:ln/>
        </p:spPr>
        <p:txBody>
          <a:bodyPr wrap="square" lIns="0" tIns="0" rIns="0" bIns="0" rtlCol="0" anchor="ctr"/>
          <a:lstStyle/>
          <a:p>
            <a:pPr indent="0" marL="0">
              <a:buNone/>
            </a:pPr>
            <a:r>
              <a:rPr lang="fr-FR" altLang="en-US" sz="1700" dirty="0">
                <a:solidFill>
                  <a:schemeClr val="bg1"/>
                </a:solidFill>
              </a:rPr>
              <a:t>Attacher des probabilités au même graphe pour estimer la chance d'aboutir à {T}</a:t>
            </a:r>
            <a:endParaRPr lang="fr-FR" sz="1700" dirty="0"/>
          </a:p>
        </p:txBody>
      </p:sp>
      <p:sp>
        <p:nvSpPr>
          <p:cNvPr id="11" name="perspective 3"/>
          <p:cNvSpPr/>
          <p:nvPr/>
        </p:nvSpPr>
        <p:spPr>
          <a:xfrm>
            <a:off x="548640" y="2926080"/>
            <a:ext cx="5394960" cy="1280160"/>
          </a:xfrm>
          <a:prstGeom prst="roundRect">
            <a:avLst>
              <a:gd name="adj" fmla="val 5714"/>
            </a:avLst>
          </a:prstGeom>
          <a:solidFill>
            <a:schemeClr val="tx2"/>
          </a:solidFill>
          <a:ln/>
          <a:effectLst>
            <a:outerShdw sx="100000" sy="100000" kx="0" ky="0" algn="bl" rotWithShape="0" blurRad="76200" dist="25400" dir="5400000">
              <a:srgbClr val="1D2B36">
                <a:alpha val="12000"/>
              </a:srgbClr>
            </a:outerShdw>
          </a:effectLst>
        </p:spPr>
      </p:sp>
      <p:sp>
        <p:nvSpPr>
          <p:cNvPr id="12" name="pastille 3"/>
          <p:cNvSpPr/>
          <p:nvPr/>
        </p:nvSpPr>
        <p:spPr>
          <a:xfrm>
            <a:off x="800100" y="3314700"/>
            <a:ext cx="502920" cy="502920"/>
          </a:xfrm>
          <a:prstGeom prst="ellipse">
            <a:avLst/>
          </a:prstGeom>
          <a:solidFill>
            <a:schemeClr val="accent3"/>
          </a:solidFill>
          <a:ln w="9525">
            <a:solidFill>
              <a:schemeClr val="accent3"/>
            </a:solidFill>
            <a:prstDash val="solid"/>
          </a:ln>
        </p:spPr>
      </p:sp>
      <p:sp>
        <p:nvSpPr>
          <p:cNvPr id="13" name="Text 11"/>
          <p:cNvSpPr txBox="1"/>
          <p:nvPr/>
        </p:nvSpPr>
        <p:spPr>
          <a:xfrm>
            <a:off x="800100" y="3314700"/>
            <a:ext cx="502920" cy="502920"/>
          </a:xfrm>
          <a:prstGeom prst="rect">
            <a:avLst/>
          </a:prstGeom>
          <a:noFill/>
          <a:ln/>
        </p:spPr>
        <p:txBody>
          <a:bodyPr wrap="square" lIns="0" tIns="0" rIns="0" bIns="0" rtlCol="0" anchor="ctr"/>
          <a:lstStyle/>
          <a:p>
            <a:pPr algn="ctr" indent="0" marL="0">
              <a:buNone/>
            </a:pPr>
            <a:r>
              <a:rPr lang="fr-FR" altLang="en-US" sz="1800" b="1" dirty="0">
                <a:solidFill>
                  <a:schemeClr val="tx1"/>
                </a:solidFill>
              </a:rPr>
              <a:t>3</a:t>
            </a:r>
            <a:endParaRPr lang="fr-FR" sz="1800" dirty="0"/>
          </a:p>
        </p:txBody>
      </p:sp>
      <p:sp>
        <p:nvSpPr>
          <p:cNvPr id="14" name="Text 12"/>
          <p:cNvSpPr txBox="1"/>
          <p:nvPr/>
        </p:nvSpPr>
        <p:spPr>
          <a:xfrm>
            <a:off x="1508760" y="3108960"/>
            <a:ext cx="4206240" cy="914400"/>
          </a:xfrm>
          <a:prstGeom prst="rect">
            <a:avLst/>
          </a:prstGeom>
          <a:noFill/>
          <a:ln/>
        </p:spPr>
        <p:txBody>
          <a:bodyPr wrap="square" lIns="0" tIns="0" rIns="0" bIns="0" rtlCol="0" anchor="ctr"/>
          <a:lstStyle/>
          <a:p>
            <a:pPr indent="0" marL="0">
              <a:buNone/>
            </a:pPr>
            <a:r>
              <a:rPr lang="fr-FR" altLang="en-US" sz="1700" dirty="0">
                <a:solidFill>
                  <a:schemeClr val="bg1"/>
                </a:solidFill>
              </a:rPr>
              <a:t>Comparer d'autres modes de mise à jour et tester la robustesse règle par règle</a:t>
            </a:r>
            <a:endParaRPr lang="fr-FR" sz="1700" dirty="0"/>
          </a:p>
        </p:txBody>
      </p:sp>
      <p:sp>
        <p:nvSpPr>
          <p:cNvPr id="15" name="perspective 4"/>
          <p:cNvSpPr/>
          <p:nvPr/>
        </p:nvSpPr>
        <p:spPr>
          <a:xfrm>
            <a:off x="6245352" y="2926080"/>
            <a:ext cx="5394960" cy="1280160"/>
          </a:xfrm>
          <a:prstGeom prst="roundRect">
            <a:avLst>
              <a:gd name="adj" fmla="val 5714"/>
            </a:avLst>
          </a:prstGeom>
          <a:solidFill>
            <a:schemeClr val="tx2"/>
          </a:solidFill>
          <a:ln/>
          <a:effectLst>
            <a:outerShdw sx="100000" sy="100000" kx="0" ky="0" algn="bl" rotWithShape="0" blurRad="76200" dist="25400" dir="5400000">
              <a:srgbClr val="1D2B36">
                <a:alpha val="12000"/>
              </a:srgbClr>
            </a:outerShdw>
          </a:effectLst>
        </p:spPr>
      </p:sp>
      <p:sp>
        <p:nvSpPr>
          <p:cNvPr id="16" name="pastille 4"/>
          <p:cNvSpPr/>
          <p:nvPr/>
        </p:nvSpPr>
        <p:spPr>
          <a:xfrm>
            <a:off x="6496812" y="3314700"/>
            <a:ext cx="502920" cy="502920"/>
          </a:xfrm>
          <a:prstGeom prst="ellipse">
            <a:avLst/>
          </a:prstGeom>
          <a:solidFill>
            <a:schemeClr val="accent3"/>
          </a:solidFill>
          <a:ln w="9525">
            <a:solidFill>
              <a:schemeClr val="accent3"/>
            </a:solidFill>
            <a:prstDash val="solid"/>
          </a:ln>
        </p:spPr>
      </p:sp>
      <p:sp>
        <p:nvSpPr>
          <p:cNvPr id="17" name="Text 15"/>
          <p:cNvSpPr txBox="1"/>
          <p:nvPr/>
        </p:nvSpPr>
        <p:spPr>
          <a:xfrm>
            <a:off x="6496812" y="3314700"/>
            <a:ext cx="502920" cy="502920"/>
          </a:xfrm>
          <a:prstGeom prst="rect">
            <a:avLst/>
          </a:prstGeom>
          <a:noFill/>
          <a:ln/>
        </p:spPr>
        <p:txBody>
          <a:bodyPr wrap="square" lIns="0" tIns="0" rIns="0" bIns="0" rtlCol="0" anchor="ctr"/>
          <a:lstStyle/>
          <a:p>
            <a:pPr algn="ctr" indent="0" marL="0">
              <a:buNone/>
            </a:pPr>
            <a:r>
              <a:rPr lang="fr-FR" altLang="en-US" sz="1800" b="1" dirty="0">
                <a:solidFill>
                  <a:schemeClr val="tx1"/>
                </a:solidFill>
              </a:rPr>
              <a:t>4</a:t>
            </a:r>
            <a:endParaRPr lang="fr-FR" sz="1800" dirty="0"/>
          </a:p>
        </p:txBody>
      </p:sp>
      <p:sp>
        <p:nvSpPr>
          <p:cNvPr id="18" name="Text 16"/>
          <p:cNvSpPr txBox="1"/>
          <p:nvPr/>
        </p:nvSpPr>
        <p:spPr>
          <a:xfrm>
            <a:off x="7205472" y="3108960"/>
            <a:ext cx="4206240" cy="914400"/>
          </a:xfrm>
          <a:prstGeom prst="rect">
            <a:avLst/>
          </a:prstGeom>
          <a:noFill/>
          <a:ln/>
        </p:spPr>
        <p:txBody>
          <a:bodyPr wrap="square" lIns="0" tIns="0" rIns="0" bIns="0" rtlCol="0" anchor="ctr"/>
          <a:lstStyle/>
          <a:p>
            <a:pPr indent="0" marL="0">
              <a:buNone/>
            </a:pPr>
            <a:r>
              <a:rPr lang="fr-FR" altLang="en-US" sz="1700" dirty="0">
                <a:solidFill>
                  <a:schemeClr val="bg1"/>
                </a:solidFill>
              </a:rPr>
              <a:t>Apprendre les règles à partir des données au lieu de les écrire à la main</a:t>
            </a:r>
            <a:endParaRPr lang="fr-FR" sz="1700" dirty="0"/>
          </a:p>
        </p:txBody>
      </p:sp>
      <p:sp>
        <p:nvSpPr>
          <p:cNvPr id="19" name="Text 17"/>
          <p:cNvSpPr txBox="1"/>
          <p:nvPr/>
        </p:nvSpPr>
        <p:spPr>
          <a:xfrm>
            <a:off x="548640" y="4572000"/>
            <a:ext cx="11091672" cy="1280160"/>
          </a:xfrm>
          <a:prstGeom prst="rect">
            <a:avLst/>
          </a:prstGeom>
          <a:noFill/>
          <a:ln/>
        </p:spPr>
        <p:txBody>
          <a:bodyPr wrap="square" lIns="0" tIns="0" rIns="0" bIns="0" rtlCol="0" anchor="ctr"/>
          <a:lstStyle/>
          <a:p>
            <a:pPr indent="0" marL="0">
              <a:buNone/>
            </a:pPr>
            <a:r>
              <a:rPr lang="fr-FR" altLang="en-US" sz="2200" i="1" dirty="0">
                <a:solidFill>
                  <a:schemeClr val="bg1"/>
                </a:solidFill>
                <a:latin typeface="+mj-lt" pitchFamily="34" charset="0"/>
                <a:ea typeface="+mj-lt" pitchFamily="34" charset="-122"/>
                <a:cs typeface="+mj-lt" pitchFamily="34" charset="-120"/>
              </a:rPr>
              <a:t>L'ordre des événements compte : un modèle asynchrone garde des issues qu'un modèle synchrone efface.</a:t>
            </a:r>
            <a:endParaRPr lang="fr-FR" sz="2200" dirty="0"/>
          </a:p>
          <a:p>
            <a:pPr indent="0" marL="0">
              <a:buNone/>
            </a:pPr>
            <a:r>
              <a:rPr lang="fr-FR" altLang="en-US" sz="2200" i="1" dirty="0">
                <a:solidFill>
                  <a:schemeClr val="accent3"/>
                </a:solidFill>
                <a:latin typeface="+mj-lt" pitchFamily="34" charset="0"/>
                <a:ea typeface="+mj-lt" pitchFamily="34" charset="-122"/>
                <a:cs typeface="+mj-lt" pitchFamily="34" charset="-120"/>
              </a:rPr>
              <a:t>Mais « possible » ne veut pas dire « probable ».</a:t>
            </a:r>
            <a:endParaRPr lang="fr-FR" sz="2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Ecosysteme APT">
  <a:themeElements>
    <a:clrScheme name="Ecosysteme APT">
      <a:dk1>
        <a:srgbClr val="1D2B36"/>
      </a:dk1>
      <a:lt1>
        <a:srgbClr val="FFFFFF"/>
      </a:lt1>
      <a:dk2>
        <a:srgbClr val="2B4552"/>
      </a:dk2>
      <a:lt2>
        <a:srgbClr val="EEF6F5"/>
      </a:lt2>
      <a:accent1>
        <a:srgbClr val="2A9D8F"/>
      </a:accent1>
      <a:accent2>
        <a:srgbClr val="C27C0E"/>
      </a:accent2>
      <a:accent3>
        <a:srgbClr val="9FE0DA"/>
      </a:accent3>
      <a:accent4>
        <a:srgbClr val="EFC46B"/>
      </a:accent4>
      <a:accent5>
        <a:srgbClr val="B5523B"/>
      </a:accent5>
      <a:accent6>
        <a:srgbClr val="5F7F91"/>
      </a:accent6>
      <a:hlink>
        <a:srgbClr val="2A9D8F"/>
      </a:hlink>
      <a:folHlink>
        <a:srgbClr val="5F7F91"/>
      </a:folHlink>
    </a:clrScheme>
    <a:fontScheme name="Ecosysteme AP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Reproduction des figures 5 et 7 de Cosme, Thomas et Gaucherel (2023)</dc:title>
  <dc:subject>Modèle qualitatif APT : exécution synchrone et asynchrone avec ecco</dc:subject>
  <dc:creator>Mohammed El Amine Benbakreti, Mohamed Aziz Ben Romdhane</dc:creator>
  <cp:lastModifiedBy>Mohammed El Amine Benbakreti, Mohamed Aziz Ben Romdhane</cp:lastModifiedBy>
  <cp:revision>1</cp:revision>
  <dcterms:created xsi:type="dcterms:W3CDTF">2026-10-27T14:07:22Z</dcterms:created>
  <dcterms:modified xsi:type="dcterms:W3CDTF">2026-10-27T14:07:22Z</dcterms:modified>
</cp:coreProperties>
</file>